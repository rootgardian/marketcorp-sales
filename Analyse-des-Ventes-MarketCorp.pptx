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4630400" cy="8229600"/>
  <p:notesSz cx="8229600" cy="14630400"/>
  <p:embeddedFontLst>
    <p:embeddedFont>
      <p:font typeface="Abadi" panose="020B0604020104020204" pitchFamily="34" charset="0"/>
      <p:regular r:id="rId14"/>
      <p:bold r:id="rId15"/>
    </p:embeddedFont>
  </p:embeddedFontLst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1" d="100"/>
          <a:sy n="81" d="100"/>
        </p:scale>
        <p:origin x="101" y="17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435271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3798" y="3043357"/>
            <a:ext cx="7416403" cy="1402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badi" panose="020F0502020204030204" pitchFamily="34" charset="0"/>
                <a:ea typeface="Montserrat Bold" pitchFamily="34" charset="-122"/>
                <a:cs typeface="Montserrat Bold" pitchFamily="34" charset="-120"/>
              </a:rPr>
              <a:t>Analyse des Ventes MarketCorp</a:t>
            </a:r>
            <a:endParaRPr lang="en-US" sz="4400" dirty="0">
              <a:latin typeface="Abadi" panose="020F0502020204030204" pitchFamily="3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863798" y="4816078"/>
            <a:ext cx="7416403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Abadi" panose="020F0502020204030204" pitchFamily="34" charset="0"/>
                <a:ea typeface="Source Sans 3" pitchFamily="34" charset="-122"/>
                <a:cs typeface="Source Sans 3" pitchFamily="34" charset="-120"/>
              </a:rPr>
              <a:t>5 phases pour analyser des données avec Python et Pandas</a:t>
            </a:r>
            <a:endParaRPr lang="en-US" sz="1900" dirty="0">
              <a:latin typeface="Abadi" panose="020F050202020403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1442918"/>
            <a:ext cx="8499991" cy="701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badi" panose="020B0604020104020204" pitchFamily="34" charset="0"/>
                <a:ea typeface="Montserrat Bold" pitchFamily="34" charset="-122"/>
                <a:cs typeface="Montserrat Bold" pitchFamily="34" charset="-120"/>
              </a:rPr>
              <a:t>Phase 1 : Audit &amp; Importation</a:t>
            </a:r>
            <a:endParaRPr lang="en-US" sz="4400" dirty="0">
              <a:latin typeface="Abadi" panose="020B0604020104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863798" y="2637830"/>
            <a:ext cx="12902803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Abadi" panose="020B0604020104020204" pitchFamily="34" charset="0"/>
                <a:ea typeface="Source Sans 3" pitchFamily="34" charset="-122"/>
                <a:cs typeface="Source Sans 3" pitchFamily="34" charset="-120"/>
              </a:rPr>
              <a:t>Préparez l’environnement et chargez les données pour un audit rapide.</a:t>
            </a:r>
            <a:endParaRPr lang="en-US" sz="1900" dirty="0">
              <a:latin typeface="Abadi" panose="020B0604020104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863798" y="3285649"/>
            <a:ext cx="493633" cy="3084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Abadi" panose="020B0604020104020204" pitchFamily="34" charset="0"/>
                <a:ea typeface="Montserrat Light" pitchFamily="34" charset="-122"/>
                <a:cs typeface="Montserrat Light" pitchFamily="34" charset="-120"/>
              </a:rPr>
              <a:t>01</a:t>
            </a:r>
            <a:endParaRPr lang="en-US" sz="1900" dirty="0">
              <a:latin typeface="Abadi" panose="020B060402010402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863798" y="3674626"/>
            <a:ext cx="6327934" cy="304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>
              <a:latin typeface="Abadi" panose="020B0604020104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863798" y="3858935"/>
            <a:ext cx="3245048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2E6E9"/>
                </a:solidFill>
                <a:latin typeface="Abadi" panose="020B0604020104020204" pitchFamily="34" charset="0"/>
                <a:ea typeface="Montserrat Bold" pitchFamily="34" charset="-122"/>
                <a:cs typeface="Montserrat Bold" pitchFamily="34" charset="-120"/>
              </a:rPr>
              <a:t>Création du Notebook</a:t>
            </a:r>
            <a:endParaRPr lang="en-US" sz="2200" dirty="0">
              <a:latin typeface="Abadi" panose="020B0604020104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863798" y="4357568"/>
            <a:ext cx="6327934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Abadi" panose="020B0604020104020204" pitchFamily="34" charset="0"/>
                <a:ea typeface="Source Sans 3" pitchFamily="34" charset="-122"/>
                <a:cs typeface="Source Sans 3" pitchFamily="34" charset="-120"/>
              </a:rPr>
              <a:t>Ouvrez un notebook dans Colab ou Jupyter.</a:t>
            </a:r>
            <a:endParaRPr lang="en-US" sz="1900" dirty="0">
              <a:latin typeface="Abadi" panose="020B0604020104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7438549" y="3285649"/>
            <a:ext cx="493633" cy="3084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Abadi" panose="020B0604020104020204" pitchFamily="34" charset="0"/>
                <a:ea typeface="Montserrat Light" pitchFamily="34" charset="-122"/>
                <a:cs typeface="Montserrat Light" pitchFamily="34" charset="-120"/>
              </a:rPr>
              <a:t>02</a:t>
            </a:r>
            <a:endParaRPr lang="en-US" sz="1900" dirty="0">
              <a:latin typeface="Abadi" panose="020B060402010402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7438549" y="3674626"/>
            <a:ext cx="6328053" cy="304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>
              <a:latin typeface="Abadi" panose="020B0604020104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438549" y="3858935"/>
            <a:ext cx="3033355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2E6E9"/>
                </a:solidFill>
                <a:latin typeface="Abadi" panose="020B0604020104020204" pitchFamily="34" charset="0"/>
                <a:ea typeface="Montserrat Bold" pitchFamily="34" charset="-122"/>
                <a:cs typeface="Montserrat Bold" pitchFamily="34" charset="-120"/>
              </a:rPr>
              <a:t>Import des Librairies</a:t>
            </a:r>
            <a:endParaRPr lang="en-US" sz="2200" dirty="0">
              <a:latin typeface="Abadi" panose="020B0604020104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438549" y="4357568"/>
            <a:ext cx="6328053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Abadi" panose="020B0604020104020204" pitchFamily="34" charset="0"/>
                <a:ea typeface="Source Sans 3" pitchFamily="34" charset="-122"/>
                <a:cs typeface="Source Sans 3" pitchFamily="34" charset="-120"/>
              </a:rPr>
              <a:t>Importez pandas, numpy et matplotlib.pyplot.</a:t>
            </a:r>
            <a:endParaRPr lang="en-US" sz="1900" dirty="0">
              <a:latin typeface="Abadi" panose="020B0604020104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863798" y="5159573"/>
            <a:ext cx="493633" cy="3084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Abadi" panose="020B0604020104020204" pitchFamily="34" charset="0"/>
                <a:ea typeface="Montserrat Light" pitchFamily="34" charset="-122"/>
                <a:cs typeface="Montserrat Light" pitchFamily="34" charset="-120"/>
              </a:rPr>
              <a:t>03</a:t>
            </a:r>
            <a:endParaRPr lang="en-US" sz="1900" dirty="0">
              <a:latin typeface="Abadi" panose="020B0604020104020204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863798" y="5548551"/>
            <a:ext cx="6327934" cy="304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>
              <a:latin typeface="Abadi" panose="020B0604020104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863798" y="5732859"/>
            <a:ext cx="3834408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2E6E9"/>
                </a:solidFill>
                <a:latin typeface="Abadi" panose="020B0604020104020204" pitchFamily="34" charset="0"/>
                <a:ea typeface="Montserrat Bold" pitchFamily="34" charset="-122"/>
                <a:cs typeface="Montserrat Bold" pitchFamily="34" charset="-120"/>
              </a:rPr>
              <a:t>Chargement des Données</a:t>
            </a:r>
            <a:endParaRPr lang="en-US" sz="2200" dirty="0">
              <a:latin typeface="Abadi" panose="020B060402010402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863798" y="6231493"/>
            <a:ext cx="6327934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Abadi" panose="020B0604020104020204" pitchFamily="34" charset="0"/>
                <a:ea typeface="Source Sans 3" pitchFamily="34" charset="-122"/>
                <a:cs typeface="Source Sans 3" pitchFamily="34" charset="-120"/>
              </a:rPr>
              <a:t>Chargez marketcorp_sales.csv avec pd.read_csv().</a:t>
            </a:r>
            <a:endParaRPr lang="en-US" sz="1900" dirty="0">
              <a:latin typeface="Abadi" panose="020B0604020104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7438549" y="5159573"/>
            <a:ext cx="493633" cy="3084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Abadi" panose="020B0604020104020204" pitchFamily="34" charset="0"/>
                <a:ea typeface="Montserrat Light" pitchFamily="34" charset="-122"/>
                <a:cs typeface="Montserrat Light" pitchFamily="34" charset="-120"/>
              </a:rPr>
              <a:t>04</a:t>
            </a:r>
            <a:endParaRPr lang="en-US" sz="1900" dirty="0">
              <a:latin typeface="Abadi" panose="020B0604020104020204" pitchFamily="3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7438549" y="5548551"/>
            <a:ext cx="6328053" cy="304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>
              <a:latin typeface="Abadi" panose="020B060402010402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438549" y="5732859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2E6E9"/>
                </a:solidFill>
                <a:latin typeface="Abadi" panose="020B0604020104020204" pitchFamily="34" charset="0"/>
                <a:ea typeface="Montserrat Bold" pitchFamily="34" charset="-122"/>
                <a:cs typeface="Montserrat Bold" pitchFamily="34" charset="-120"/>
              </a:rPr>
              <a:t>Audit Initial</a:t>
            </a:r>
            <a:endParaRPr lang="en-US" sz="2200" dirty="0">
              <a:latin typeface="Abadi" panose="020B0604020104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7438549" y="6231493"/>
            <a:ext cx="6328053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Abadi" panose="020B0604020104020204" pitchFamily="34" charset="0"/>
                <a:ea typeface="Source Sans 3" pitchFamily="34" charset="-122"/>
                <a:cs typeface="Source Sans 3" pitchFamily="34" charset="-120"/>
              </a:rPr>
              <a:t>Vérifiez shape, dtypes, head(), describe() et isnull().sum().</a:t>
            </a:r>
            <a:endParaRPr lang="en-US" sz="1900" dirty="0">
              <a:latin typeface="Abadi" panose="020B0604020104020204" pitchFamily="34" charset="0"/>
            </a:endParaRPr>
          </a:p>
        </p:txBody>
      </p:sp>
      <p:pic>
        <p:nvPicPr>
          <p:cNvPr id="21" name="Image 20">
            <a:extLst>
              <a:ext uri="{FF2B5EF4-FFF2-40B4-BE49-F238E27FC236}">
                <a16:creationId xmlns:a16="http://schemas.microsoft.com/office/drawing/2014/main" id="{9AAD6478-7FA6-1658-543F-18F86158F9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50816" y="7810442"/>
            <a:ext cx="1991003" cy="41915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984885"/>
            <a:ext cx="7747873" cy="701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badi" panose="020B0604020104020204" pitchFamily="34" charset="0"/>
                <a:ea typeface="Montserrat Bold" pitchFamily="34" charset="-122"/>
                <a:cs typeface="Montserrat Bold" pitchFamily="34" charset="-120"/>
              </a:rPr>
              <a:t>Phase 2 : Nettoyage Fiable</a:t>
            </a:r>
            <a:endParaRPr lang="en-US" sz="4400" dirty="0">
              <a:latin typeface="Abadi" panose="020B0604020104020204" pitchFamily="34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798" y="2333982"/>
            <a:ext cx="8176022" cy="463307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49658" y="2419112"/>
            <a:ext cx="4124444" cy="701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Abadi" panose="020B0604020104020204" pitchFamily="34" charset="0"/>
                <a:ea typeface="Montserrat Bold" pitchFamily="34" charset="-122"/>
                <a:cs typeface="Montserrat Bold" pitchFamily="34" charset="-120"/>
              </a:rPr>
              <a:t>Traiter les valeurs manquantes</a:t>
            </a:r>
            <a:endParaRPr lang="en-US" sz="2200" dirty="0">
              <a:latin typeface="Abadi" panose="020B0604020104020204" pitchFamily="34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9649658" y="3367207"/>
            <a:ext cx="4124444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Abadi" panose="020B0604020104020204" pitchFamily="34" charset="0"/>
                <a:ea typeface="Source Sans 3" pitchFamily="34" charset="-122"/>
                <a:cs typeface="Source Sans 3" pitchFamily="34" charset="-120"/>
              </a:rPr>
              <a:t>Remplacez les NaN dans Item_Weight et Outlet_Size.</a:t>
            </a:r>
            <a:endParaRPr lang="en-US" sz="1900" dirty="0">
              <a:latin typeface="Abadi" panose="020B0604020104020204" pitchFamily="3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9649658" y="4354354"/>
            <a:ext cx="3746421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Abadi" panose="020B0604020104020204" pitchFamily="34" charset="0"/>
                <a:ea typeface="Montserrat Bold" pitchFamily="34" charset="-122"/>
                <a:cs typeface="Montserrat Bold" pitchFamily="34" charset="-120"/>
              </a:rPr>
              <a:t>Corriger les incohérences</a:t>
            </a:r>
            <a:endParaRPr lang="en-US" sz="2200" dirty="0">
              <a:latin typeface="Abadi" panose="020B0604020104020204" pitchFamily="3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9649658" y="4951809"/>
            <a:ext cx="4124444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Abadi" panose="020B0604020104020204" pitchFamily="34" charset="0"/>
                <a:ea typeface="Source Sans 3" pitchFamily="34" charset="-122"/>
                <a:cs typeface="Source Sans 3" pitchFamily="34" charset="-120"/>
              </a:rPr>
              <a:t>Standardisez Item_Fat_Content en Low Fat / Regular.</a:t>
            </a:r>
            <a:endParaRPr lang="en-US" sz="1900" dirty="0">
              <a:latin typeface="Abadi" panose="020B0604020104020204" pitchFamily="34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9649658" y="5938957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Abadi" panose="020B0604020104020204" pitchFamily="34" charset="0"/>
                <a:ea typeface="Montserrat Bold" pitchFamily="34" charset="-122"/>
                <a:cs typeface="Montserrat Bold" pitchFamily="34" charset="-120"/>
              </a:rPr>
              <a:t>Validation finale</a:t>
            </a:r>
            <a:endParaRPr lang="en-US" sz="2200" dirty="0">
              <a:latin typeface="Abadi" panose="020B0604020104020204" pitchFamily="34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9649658" y="6536412"/>
            <a:ext cx="4124444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Abadi" panose="020B0604020104020204" pitchFamily="34" charset="0"/>
                <a:ea typeface="Source Sans 3" pitchFamily="34" charset="-122"/>
                <a:cs typeface="Source Sans 3" pitchFamily="34" charset="-120"/>
              </a:rPr>
              <a:t>Vérifiez avec isnull().sum().</a:t>
            </a:r>
            <a:endParaRPr lang="en-US" sz="1900" dirty="0">
              <a:latin typeface="Abadi" panose="020B0604020104020204" pitchFamily="34" charset="0"/>
            </a:endParaRPr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EEE502C6-1AA4-78B6-81C1-E78F789162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39397" y="7750849"/>
            <a:ext cx="1991003" cy="41915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859155"/>
            <a:ext cx="8618934" cy="701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badi" panose="020B0604020104020204" pitchFamily="34" charset="0"/>
                <a:ea typeface="Montserrat Bold" pitchFamily="34" charset="-122"/>
                <a:cs typeface="Montserrat Bold" pitchFamily="34" charset="-120"/>
              </a:rPr>
              <a:t>Phase 3 : Exploration Chiffrée</a:t>
            </a:r>
            <a:endParaRPr lang="en-US" sz="4400" dirty="0">
              <a:latin typeface="Abadi" panose="020B0604020104020204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863798" y="2054066"/>
            <a:ext cx="6327934" cy="2719864"/>
          </a:xfrm>
          <a:prstGeom prst="roundRect">
            <a:avLst>
              <a:gd name="adj" fmla="val 1361"/>
            </a:avLst>
          </a:prstGeom>
          <a:solidFill>
            <a:srgbClr val="303132"/>
          </a:solidFill>
          <a:ln/>
        </p:spPr>
        <p:txBody>
          <a:bodyPr/>
          <a:lstStyle/>
          <a:p>
            <a:endParaRPr lang="fr-FR">
              <a:latin typeface="Abadi" panose="020B0604020104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1110615" y="2300883"/>
            <a:ext cx="740450" cy="740450"/>
          </a:xfrm>
          <a:prstGeom prst="roundRect">
            <a:avLst>
              <a:gd name="adj" fmla="val 12348012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FR">
              <a:latin typeface="Abadi" panose="020B0604020104020204" pitchFamily="34" charset="0"/>
            </a:endParaRP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4212" y="2504480"/>
            <a:ext cx="333137" cy="33313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10615" y="3288149"/>
            <a:ext cx="3638193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2E6E9"/>
                </a:solidFill>
                <a:latin typeface="Abadi" panose="020B0604020104020204" pitchFamily="34" charset="0"/>
                <a:ea typeface="Montserrat Bold" pitchFamily="34" charset="-122"/>
                <a:cs typeface="Montserrat Bold" pitchFamily="34" charset="-120"/>
              </a:rPr>
              <a:t>Statistiques Descriptives</a:t>
            </a:r>
            <a:endParaRPr lang="en-US" sz="2200" dirty="0">
              <a:latin typeface="Abadi" panose="020B0604020104020204" pitchFamily="3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1110615" y="3786783"/>
            <a:ext cx="5834301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Abadi" panose="020B0604020104020204" pitchFamily="34" charset="0"/>
                <a:ea typeface="Source Sans 3" pitchFamily="34" charset="-122"/>
                <a:cs typeface="Source Sans 3" pitchFamily="34" charset="-120"/>
              </a:rPr>
              <a:t>Faites describe() sur les colonnes numériques et relevez 3 constats clés.</a:t>
            </a:r>
            <a:endParaRPr lang="en-US" sz="1900" dirty="0">
              <a:latin typeface="Abadi" panose="020B0604020104020204" pitchFamily="34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7438549" y="2054066"/>
            <a:ext cx="6328053" cy="2719864"/>
          </a:xfrm>
          <a:prstGeom prst="roundRect">
            <a:avLst>
              <a:gd name="adj" fmla="val 1361"/>
            </a:avLst>
          </a:prstGeom>
          <a:solidFill>
            <a:srgbClr val="303132"/>
          </a:solidFill>
          <a:ln/>
        </p:spPr>
        <p:txBody>
          <a:bodyPr/>
          <a:lstStyle/>
          <a:p>
            <a:endParaRPr lang="fr-FR">
              <a:latin typeface="Abadi" panose="020B0604020104020204" pitchFamily="34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7685365" y="2300883"/>
            <a:ext cx="740450" cy="740450"/>
          </a:xfrm>
          <a:prstGeom prst="roundRect">
            <a:avLst>
              <a:gd name="adj" fmla="val 12348012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FR">
              <a:latin typeface="Abadi" panose="020B0604020104020204" pitchFamily="34" charset="0"/>
            </a:endParaRPr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88962" y="2504480"/>
            <a:ext cx="333137" cy="33313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685365" y="3288149"/>
            <a:ext cx="3012281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2E6E9"/>
                </a:solidFill>
                <a:latin typeface="Abadi" panose="020B0604020104020204" pitchFamily="34" charset="0"/>
                <a:ea typeface="Montserrat Bold" pitchFamily="34" charset="-122"/>
                <a:cs typeface="Montserrat Bold" pitchFamily="34" charset="-120"/>
              </a:rPr>
              <a:t>Analyse Catégorielle</a:t>
            </a:r>
            <a:endParaRPr lang="en-US" sz="2200" dirty="0">
              <a:latin typeface="Abadi" panose="020B0604020104020204" pitchFamily="34" charset="0"/>
            </a:endParaRPr>
          </a:p>
        </p:txBody>
      </p:sp>
      <p:sp>
        <p:nvSpPr>
          <p:cNvPr id="12" name="Text 8"/>
          <p:cNvSpPr/>
          <p:nvPr/>
        </p:nvSpPr>
        <p:spPr>
          <a:xfrm>
            <a:off x="7685365" y="3786783"/>
            <a:ext cx="5834420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Abadi" panose="020B0604020104020204" pitchFamily="34" charset="0"/>
                <a:ea typeface="Source Sans 3" pitchFamily="34" charset="-122"/>
                <a:cs typeface="Source Sans 3" pitchFamily="34" charset="-120"/>
              </a:rPr>
              <a:t>Utilisez value_counts() pour répartir Outlet_Size, Outlet_Type et Item_Fat_Content.</a:t>
            </a:r>
            <a:endParaRPr lang="en-US" sz="1900" dirty="0">
              <a:latin typeface="Abadi" panose="020B0604020104020204" pitchFamily="34" charset="0"/>
            </a:endParaRPr>
          </a:p>
        </p:txBody>
      </p:sp>
      <p:sp>
        <p:nvSpPr>
          <p:cNvPr id="13" name="Shape 9"/>
          <p:cNvSpPr/>
          <p:nvPr/>
        </p:nvSpPr>
        <p:spPr>
          <a:xfrm>
            <a:off x="863798" y="5020747"/>
            <a:ext cx="6327934" cy="2349698"/>
          </a:xfrm>
          <a:prstGeom prst="roundRect">
            <a:avLst>
              <a:gd name="adj" fmla="val 1576"/>
            </a:avLst>
          </a:prstGeom>
          <a:solidFill>
            <a:srgbClr val="303132"/>
          </a:solidFill>
          <a:ln/>
        </p:spPr>
        <p:txBody>
          <a:bodyPr/>
          <a:lstStyle/>
          <a:p>
            <a:endParaRPr lang="fr-FR">
              <a:latin typeface="Abadi" panose="020B0604020104020204" pitchFamily="34" charset="0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1110615" y="5267563"/>
            <a:ext cx="740450" cy="740450"/>
          </a:xfrm>
          <a:prstGeom prst="roundRect">
            <a:avLst>
              <a:gd name="adj" fmla="val 12348012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FR">
              <a:latin typeface="Abadi" panose="020B0604020104020204" pitchFamily="34" charset="0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14212" y="5471160"/>
            <a:ext cx="333137" cy="333137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110615" y="6254829"/>
            <a:ext cx="3252311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2E6E9"/>
                </a:solidFill>
                <a:latin typeface="Abadi" panose="020B0604020104020204" pitchFamily="34" charset="0"/>
                <a:ea typeface="Montserrat Bold" pitchFamily="34" charset="-122"/>
                <a:cs typeface="Montserrat Bold" pitchFamily="34" charset="-120"/>
              </a:rPr>
              <a:t>Comparaisons Filtrées</a:t>
            </a:r>
            <a:endParaRPr lang="en-US" sz="2200" dirty="0">
              <a:latin typeface="Abadi" panose="020B0604020104020204" pitchFamily="34" charset="0"/>
            </a:endParaRPr>
          </a:p>
        </p:txBody>
      </p:sp>
      <p:sp>
        <p:nvSpPr>
          <p:cNvPr id="17" name="Text 12"/>
          <p:cNvSpPr/>
          <p:nvPr/>
        </p:nvSpPr>
        <p:spPr>
          <a:xfrm>
            <a:off x="1110615" y="6753463"/>
            <a:ext cx="5834301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Abadi" panose="020B0604020104020204" pitchFamily="34" charset="0"/>
                <a:ea typeface="Source Sans 3" pitchFamily="34" charset="-122"/>
                <a:cs typeface="Source Sans 3" pitchFamily="34" charset="-120"/>
              </a:rPr>
              <a:t>Comparez deux sous-ensembles avec des filtres Pandas.</a:t>
            </a:r>
            <a:endParaRPr lang="en-US" sz="1900" dirty="0">
              <a:latin typeface="Abadi" panose="020B0604020104020204" pitchFamily="34" charset="0"/>
            </a:endParaRPr>
          </a:p>
        </p:txBody>
      </p:sp>
      <p:sp>
        <p:nvSpPr>
          <p:cNvPr id="18" name="Shape 13"/>
          <p:cNvSpPr/>
          <p:nvPr/>
        </p:nvSpPr>
        <p:spPr>
          <a:xfrm>
            <a:off x="7438549" y="5020747"/>
            <a:ext cx="6328053" cy="2349698"/>
          </a:xfrm>
          <a:prstGeom prst="roundRect">
            <a:avLst>
              <a:gd name="adj" fmla="val 1576"/>
            </a:avLst>
          </a:prstGeom>
          <a:solidFill>
            <a:srgbClr val="303132"/>
          </a:solidFill>
          <a:ln/>
        </p:spPr>
        <p:txBody>
          <a:bodyPr/>
          <a:lstStyle/>
          <a:p>
            <a:endParaRPr lang="fr-FR">
              <a:latin typeface="Abadi" panose="020B0604020104020204" pitchFamily="34" charset="0"/>
            </a:endParaRPr>
          </a:p>
        </p:txBody>
      </p:sp>
      <p:sp>
        <p:nvSpPr>
          <p:cNvPr id="19" name="Shape 14"/>
          <p:cNvSpPr/>
          <p:nvPr/>
        </p:nvSpPr>
        <p:spPr>
          <a:xfrm>
            <a:off x="7685365" y="5267563"/>
            <a:ext cx="740450" cy="740450"/>
          </a:xfrm>
          <a:prstGeom prst="roundRect">
            <a:avLst>
              <a:gd name="adj" fmla="val 12348012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FR">
              <a:latin typeface="Abadi" panose="020B0604020104020204" pitchFamily="34" charset="0"/>
            </a:endParaRPr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888962" y="5471160"/>
            <a:ext cx="333137" cy="333137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685365" y="6254829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2E6E9"/>
                </a:solidFill>
                <a:latin typeface="Abadi" panose="020B0604020104020204" pitchFamily="34" charset="0"/>
                <a:ea typeface="Montserrat Bold" pitchFamily="34" charset="-122"/>
                <a:cs typeface="Montserrat Bold" pitchFamily="34" charset="-120"/>
              </a:rPr>
              <a:t>Hypothèses Métier</a:t>
            </a:r>
            <a:endParaRPr lang="en-US" sz="2200" dirty="0">
              <a:latin typeface="Abadi" panose="020B0604020104020204" pitchFamily="34" charset="0"/>
            </a:endParaRPr>
          </a:p>
        </p:txBody>
      </p:sp>
      <p:sp>
        <p:nvSpPr>
          <p:cNvPr id="22" name="Text 16"/>
          <p:cNvSpPr/>
          <p:nvPr/>
        </p:nvSpPr>
        <p:spPr>
          <a:xfrm>
            <a:off x="7685365" y="6753463"/>
            <a:ext cx="5834420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Abadi" panose="020B0604020104020204" pitchFamily="34" charset="0"/>
                <a:ea typeface="Source Sans 3" pitchFamily="34" charset="-122"/>
                <a:cs typeface="Source Sans 3" pitchFamily="34" charset="-120"/>
              </a:rPr>
              <a:t>Formulez 3 hypothèses pour guider la stratégie.</a:t>
            </a:r>
            <a:endParaRPr lang="en-US" sz="1900" dirty="0">
              <a:latin typeface="Abadi" panose="020B0604020104020204" pitchFamily="34" charset="0"/>
            </a:endParaRPr>
          </a:p>
        </p:txBody>
      </p:sp>
      <p:pic>
        <p:nvPicPr>
          <p:cNvPr id="24" name="Image 23">
            <a:extLst>
              <a:ext uri="{FF2B5EF4-FFF2-40B4-BE49-F238E27FC236}">
                <a16:creationId xmlns:a16="http://schemas.microsoft.com/office/drawing/2014/main" id="{AB5A6457-4E6A-4976-FB69-9E762C14E75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524283" y="7786875"/>
            <a:ext cx="1991003" cy="41915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9382" y="612815"/>
            <a:ext cx="6627971" cy="6244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00"/>
              </a:lnSpc>
              <a:buNone/>
            </a:pPr>
            <a:r>
              <a:rPr lang="en-US" sz="3900" b="1" dirty="0">
                <a:solidFill>
                  <a:srgbClr val="FFFFFF"/>
                </a:solidFill>
                <a:latin typeface="Abadi" panose="020B0604020104020204" pitchFamily="34" charset="0"/>
                <a:ea typeface="Montserrat Bold" pitchFamily="34" charset="-122"/>
                <a:cs typeface="Montserrat Bold" pitchFamily="34" charset="-120"/>
              </a:rPr>
              <a:t>Phase 4 : Dashboard EDA</a:t>
            </a:r>
            <a:endParaRPr lang="en-US" sz="3900" dirty="0">
              <a:latin typeface="Abadi" panose="020B0604020104020204" pitchFamily="3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769382" y="1530906"/>
            <a:ext cx="7605236" cy="3115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Abadi" panose="020B0604020104020204" pitchFamily="34" charset="0"/>
                <a:ea typeface="Source Sans 3" pitchFamily="34" charset="-122"/>
                <a:cs typeface="Source Sans 3" pitchFamily="34" charset="-120"/>
              </a:rPr>
              <a:t>Créez un dashboard Matplotlib avec 4 graphiques clés.</a:t>
            </a:r>
            <a:endParaRPr lang="en-US" sz="1700" dirty="0">
              <a:latin typeface="Abadi" panose="020B0604020104020204" pitchFamily="34" charset="0"/>
            </a:endParaRPr>
          </a:p>
        </p:txBody>
      </p:sp>
      <p:sp>
        <p:nvSpPr>
          <p:cNvPr id="5" name="Shape 2"/>
          <p:cNvSpPr/>
          <p:nvPr/>
        </p:nvSpPr>
        <p:spPr>
          <a:xfrm>
            <a:off x="769382" y="2062639"/>
            <a:ext cx="7605236" cy="1241703"/>
          </a:xfrm>
          <a:prstGeom prst="roundRect">
            <a:avLst>
              <a:gd name="adj" fmla="val 2656"/>
            </a:avLst>
          </a:prstGeom>
          <a:solidFill>
            <a:srgbClr val="111213"/>
          </a:solidFill>
          <a:ln w="30480">
            <a:solidFill>
              <a:srgbClr val="494A4B"/>
            </a:solidFill>
            <a:prstDash val="solid"/>
          </a:ln>
        </p:spPr>
        <p:txBody>
          <a:bodyPr/>
          <a:lstStyle/>
          <a:p>
            <a:endParaRPr lang="fr-FR">
              <a:latin typeface="Abadi" panose="020B0604020104020204" pitchFamily="3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1019651" y="2312908"/>
            <a:ext cx="2498050" cy="3121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E2E6E9"/>
                </a:solidFill>
                <a:latin typeface="Abadi" panose="020B0604020104020204" pitchFamily="34" charset="0"/>
                <a:ea typeface="Montserrat Bold" pitchFamily="34" charset="-122"/>
                <a:cs typeface="Montserrat Bold" pitchFamily="34" charset="-120"/>
              </a:rPr>
              <a:t>Histogramme</a:t>
            </a:r>
            <a:endParaRPr lang="en-US" sz="1950" dirty="0">
              <a:latin typeface="Abadi" panose="020B0604020104020204" pitchFamily="3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1019651" y="2742486"/>
            <a:ext cx="7104698" cy="3115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Abadi" panose="020B0604020104020204" pitchFamily="34" charset="0"/>
                <a:ea typeface="Source Sans 3" pitchFamily="34" charset="-122"/>
                <a:cs typeface="Source Sans 3" pitchFamily="34" charset="-120"/>
              </a:rPr>
              <a:t>Distribution de Item_Outlet_Sales.</a:t>
            </a:r>
            <a:endParaRPr lang="en-US" sz="1700" dirty="0">
              <a:latin typeface="Abadi" panose="020B0604020104020204" pitchFamily="34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769382" y="3500080"/>
            <a:ext cx="7605236" cy="1241703"/>
          </a:xfrm>
          <a:prstGeom prst="roundRect">
            <a:avLst>
              <a:gd name="adj" fmla="val 2656"/>
            </a:avLst>
          </a:prstGeom>
          <a:solidFill>
            <a:srgbClr val="111213"/>
          </a:solidFill>
          <a:ln w="30480">
            <a:solidFill>
              <a:srgbClr val="494A4B"/>
            </a:solidFill>
            <a:prstDash val="solid"/>
          </a:ln>
        </p:spPr>
        <p:txBody>
          <a:bodyPr/>
          <a:lstStyle/>
          <a:p>
            <a:endParaRPr lang="fr-FR">
              <a:latin typeface="Abadi" panose="020B0604020104020204" pitchFamily="34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1019651" y="3750350"/>
            <a:ext cx="2498050" cy="3121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E2E6E9"/>
                </a:solidFill>
                <a:latin typeface="Abadi" panose="020B0604020104020204" pitchFamily="34" charset="0"/>
                <a:ea typeface="Montserrat Bold" pitchFamily="34" charset="-122"/>
                <a:cs typeface="Montserrat Bold" pitchFamily="34" charset="-120"/>
              </a:rPr>
              <a:t>Bar Chart</a:t>
            </a:r>
            <a:endParaRPr lang="en-US" sz="1950" dirty="0">
              <a:latin typeface="Abadi" panose="020B0604020104020204" pitchFamily="34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1019651" y="4179927"/>
            <a:ext cx="7104698" cy="3115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Abadi" panose="020B0604020104020204" pitchFamily="34" charset="0"/>
                <a:ea typeface="Source Sans 3" pitchFamily="34" charset="-122"/>
                <a:cs typeface="Source Sans 3" pitchFamily="34" charset="-120"/>
              </a:rPr>
              <a:t>Comparaison par Outlet_Size ou Outlet_Type.</a:t>
            </a:r>
            <a:endParaRPr lang="en-US" sz="1700" dirty="0">
              <a:latin typeface="Abadi" panose="020B0604020104020204" pitchFamily="34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769382" y="4937522"/>
            <a:ext cx="7605236" cy="1241703"/>
          </a:xfrm>
          <a:prstGeom prst="roundRect">
            <a:avLst>
              <a:gd name="adj" fmla="val 2656"/>
            </a:avLst>
          </a:prstGeom>
          <a:solidFill>
            <a:srgbClr val="111213"/>
          </a:solidFill>
          <a:ln w="30480">
            <a:solidFill>
              <a:srgbClr val="494A4B"/>
            </a:solidFill>
            <a:prstDash val="solid"/>
          </a:ln>
        </p:spPr>
        <p:txBody>
          <a:bodyPr/>
          <a:lstStyle/>
          <a:p>
            <a:endParaRPr lang="fr-FR">
              <a:latin typeface="Abadi" panose="020B0604020104020204" pitchFamily="34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1019651" y="5187791"/>
            <a:ext cx="2498050" cy="3121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E2E6E9"/>
                </a:solidFill>
                <a:latin typeface="Abadi" panose="020B0604020104020204" pitchFamily="34" charset="0"/>
                <a:ea typeface="Montserrat Bold" pitchFamily="34" charset="-122"/>
                <a:cs typeface="Montserrat Bold" pitchFamily="34" charset="-120"/>
              </a:rPr>
              <a:t>Scatter Plot</a:t>
            </a:r>
            <a:endParaRPr lang="en-US" sz="1950" dirty="0">
              <a:latin typeface="Abadi" panose="020B0604020104020204" pitchFamily="34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1019651" y="5617369"/>
            <a:ext cx="7104698" cy="3115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Abadi" panose="020B0604020104020204" pitchFamily="34" charset="0"/>
                <a:ea typeface="Source Sans 3" pitchFamily="34" charset="-122"/>
                <a:cs typeface="Source Sans 3" pitchFamily="34" charset="-120"/>
              </a:rPr>
              <a:t>Relation entre Item_MRP et Item_Outlet_Sales.</a:t>
            </a:r>
            <a:endParaRPr lang="en-US" sz="1700" dirty="0">
              <a:latin typeface="Abadi" panose="020B0604020104020204" pitchFamily="34" charset="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769382" y="6374963"/>
            <a:ext cx="7605236" cy="1241703"/>
          </a:xfrm>
          <a:prstGeom prst="roundRect">
            <a:avLst>
              <a:gd name="adj" fmla="val 2656"/>
            </a:avLst>
          </a:prstGeom>
          <a:solidFill>
            <a:srgbClr val="111213"/>
          </a:solidFill>
          <a:ln w="30480">
            <a:solidFill>
              <a:srgbClr val="494A4B"/>
            </a:solidFill>
            <a:prstDash val="solid"/>
          </a:ln>
        </p:spPr>
        <p:txBody>
          <a:bodyPr/>
          <a:lstStyle/>
          <a:p>
            <a:endParaRPr lang="fr-FR">
              <a:latin typeface="Abadi" panose="020B0604020104020204" pitchFamily="34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1019651" y="6625233"/>
            <a:ext cx="2498050" cy="3121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E2E6E9"/>
                </a:solidFill>
                <a:latin typeface="Abadi" panose="020B0604020104020204" pitchFamily="34" charset="0"/>
                <a:ea typeface="Montserrat Bold" pitchFamily="34" charset="-122"/>
                <a:cs typeface="Montserrat Bold" pitchFamily="34" charset="-120"/>
              </a:rPr>
              <a:t>Boxplot</a:t>
            </a:r>
            <a:endParaRPr lang="en-US" sz="1950" dirty="0">
              <a:latin typeface="Abadi" panose="020B0604020104020204" pitchFamily="34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1019651" y="7054810"/>
            <a:ext cx="7104698" cy="3115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Abadi" panose="020B0604020104020204" pitchFamily="34" charset="0"/>
                <a:ea typeface="Source Sans 3" pitchFamily="34" charset="-122"/>
                <a:cs typeface="Source Sans 3" pitchFamily="34" charset="-120"/>
              </a:rPr>
              <a:t>Dispersion et valeurs extrêmes de la cible.</a:t>
            </a:r>
            <a:endParaRPr lang="en-US" sz="1700" dirty="0">
              <a:latin typeface="Abadi" panose="020B0604020104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2305526"/>
            <a:ext cx="12470011" cy="701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badi" panose="020B0604020104020204" pitchFamily="34" charset="0"/>
                <a:ea typeface="Montserrat Bold" pitchFamily="34" charset="-122"/>
                <a:cs typeface="Montserrat Bold" pitchFamily="34" charset="-120"/>
              </a:rPr>
              <a:t>Phase 5 : Storytelling &amp; Recommandations</a:t>
            </a:r>
            <a:endParaRPr lang="en-US" sz="4400" dirty="0">
              <a:latin typeface="Abadi" panose="020B0604020104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863798" y="3623786"/>
            <a:ext cx="3908941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Abadi" panose="020B0604020104020204" pitchFamily="34" charset="0"/>
                <a:ea typeface="Montserrat Bold" pitchFamily="34" charset="-122"/>
                <a:cs typeface="Montserrat Bold" pitchFamily="34" charset="-120"/>
              </a:rPr>
              <a:t>Synthèse pour la Direction</a:t>
            </a:r>
            <a:endParaRPr lang="en-US" sz="2200" dirty="0">
              <a:latin typeface="Abadi" panose="020B0604020104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863798" y="4221242"/>
            <a:ext cx="5474970" cy="1480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Abadi" panose="020B0604020104020204" pitchFamily="34" charset="0"/>
                <a:ea typeface="Source Sans 3" pitchFamily="34" charset="-122"/>
                <a:cs typeface="Source Sans 3" pitchFamily="34" charset="-120"/>
              </a:rPr>
              <a:t>8523 transactions analysées. </a:t>
            </a:r>
            <a:r>
              <a:rPr lang="en-US" sz="1900" b="1" dirty="0">
                <a:solidFill>
                  <a:srgbClr val="E2E6E9"/>
                </a:solidFill>
                <a:latin typeface="Abadi" panose="020B0604020104020204" pitchFamily="34" charset="0"/>
                <a:ea typeface="Source Sans 3" pitchFamily="34" charset="-122"/>
                <a:cs typeface="Source Sans 3" pitchFamily="34" charset="-120"/>
              </a:rPr>
              <a:t>Item_MRP</a:t>
            </a:r>
            <a:r>
              <a:rPr lang="en-US" sz="1900" dirty="0">
                <a:solidFill>
                  <a:srgbClr val="E2E6E9"/>
                </a:solidFill>
                <a:latin typeface="Abadi" panose="020B0604020104020204" pitchFamily="34" charset="0"/>
                <a:ea typeface="Source Sans 3" pitchFamily="34" charset="-122"/>
                <a:cs typeface="Source Sans 3" pitchFamily="34" charset="-120"/>
              </a:rPr>
              <a:t> est le principal moteur des ventes. Les magasins </a:t>
            </a:r>
            <a:r>
              <a:rPr lang="en-US" sz="1900" b="1" dirty="0">
                <a:solidFill>
                  <a:srgbClr val="E2E6E9"/>
                </a:solidFill>
                <a:latin typeface="Abadi" panose="020B0604020104020204" pitchFamily="34" charset="0"/>
                <a:ea typeface="Source Sans 3" pitchFamily="34" charset="-122"/>
                <a:cs typeface="Source Sans 3" pitchFamily="34" charset="-120"/>
              </a:rPr>
              <a:t>Supermarket Type 3</a:t>
            </a:r>
            <a:r>
              <a:rPr lang="en-US" sz="1900" dirty="0">
                <a:solidFill>
                  <a:srgbClr val="E2E6E9"/>
                </a:solidFill>
                <a:latin typeface="Abadi" panose="020B0604020104020204" pitchFamily="34" charset="0"/>
                <a:ea typeface="Source Sans 3" pitchFamily="34" charset="-122"/>
                <a:cs typeface="Source Sans 3" pitchFamily="34" charset="-120"/>
              </a:rPr>
              <a:t> surperforment de </a:t>
            </a:r>
            <a:r>
              <a:rPr lang="en-US" sz="1900" b="1" dirty="0">
                <a:solidFill>
                  <a:srgbClr val="E2E6E9"/>
                </a:solidFill>
                <a:latin typeface="Abadi" panose="020B0604020104020204" pitchFamily="34" charset="0"/>
                <a:ea typeface="Source Sans 3" pitchFamily="34" charset="-122"/>
                <a:cs typeface="Source Sans 3" pitchFamily="34" charset="-120"/>
              </a:rPr>
              <a:t>35%</a:t>
            </a:r>
            <a:r>
              <a:rPr lang="en-US" sz="1900" dirty="0">
                <a:solidFill>
                  <a:srgbClr val="E2E6E9"/>
                </a:solidFill>
                <a:latin typeface="Abadi" panose="020B0604020104020204" pitchFamily="34" charset="0"/>
                <a:ea typeface="Source Sans 3" pitchFamily="34" charset="-122"/>
                <a:cs typeface="Source Sans 3" pitchFamily="34" charset="-120"/>
              </a:rPr>
              <a:t>. La visibilité en rayon reste faible (</a:t>
            </a:r>
            <a:r>
              <a:rPr lang="en-US" sz="1900" b="1" dirty="0">
                <a:solidFill>
                  <a:srgbClr val="E2E6E9"/>
                </a:solidFill>
                <a:latin typeface="Abadi" panose="020B0604020104020204" pitchFamily="34" charset="0"/>
                <a:ea typeface="Source Sans 3" pitchFamily="34" charset="-122"/>
                <a:cs typeface="Source Sans 3" pitchFamily="34" charset="-120"/>
              </a:rPr>
              <a:t>6%</a:t>
            </a:r>
            <a:r>
              <a:rPr lang="en-US" sz="1900" dirty="0">
                <a:solidFill>
                  <a:srgbClr val="E2E6E9"/>
                </a:solidFill>
                <a:latin typeface="Abadi" panose="020B0604020104020204" pitchFamily="34" charset="0"/>
                <a:ea typeface="Source Sans 3" pitchFamily="34" charset="-122"/>
                <a:cs typeface="Source Sans 3" pitchFamily="34" charset="-120"/>
              </a:rPr>
              <a:t>).</a:t>
            </a:r>
            <a:endParaRPr lang="en-US" sz="1900" dirty="0">
              <a:latin typeface="Abadi" panose="020B0604020104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6948607" y="3623786"/>
            <a:ext cx="3378518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Abadi" panose="020B0604020104020204" pitchFamily="34" charset="0"/>
                <a:ea typeface="Montserrat Bold" pitchFamily="34" charset="-122"/>
                <a:cs typeface="Montserrat Bold" pitchFamily="34" charset="-120"/>
              </a:rPr>
              <a:t>Réponses Stratégiques</a:t>
            </a:r>
            <a:endParaRPr lang="en-US" sz="2200" dirty="0">
              <a:latin typeface="Abadi" panose="020B0604020104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6948607" y="4221242"/>
            <a:ext cx="6825496" cy="1110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Abadi" panose="020B0604020104020204" pitchFamily="34" charset="0"/>
                <a:ea typeface="Source Sans 3" pitchFamily="34" charset="-122"/>
                <a:cs typeface="Source Sans 3" pitchFamily="34" charset="-120"/>
              </a:rPr>
              <a:t>• Articles premium (MRP &gt; 200) = 45% des revenus</a:t>
            </a:r>
            <a:endParaRPr lang="en-US" sz="1900" dirty="0">
              <a:latin typeface="Abadi" panose="020B0604020104020204" pitchFamily="34" charset="0"/>
            </a:endParaRPr>
          </a:p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Abadi" panose="020B0604020104020204" pitchFamily="34" charset="0"/>
                <a:ea typeface="Source Sans 3" pitchFamily="34" charset="-122"/>
                <a:cs typeface="Source Sans 3" pitchFamily="34" charset="-120"/>
              </a:rPr>
              <a:t>• Grocery Stores : faible visibilité</a:t>
            </a:r>
            <a:endParaRPr lang="en-US" sz="1900" dirty="0">
              <a:latin typeface="Abadi" panose="020B0604020104020204" pitchFamily="34" charset="0"/>
            </a:endParaRPr>
          </a:p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Abadi" panose="020B0604020104020204" pitchFamily="34" charset="0"/>
                <a:ea typeface="Source Sans 3" pitchFamily="34" charset="-122"/>
                <a:cs typeface="Source Sans 3" pitchFamily="34" charset="-120"/>
              </a:rPr>
              <a:t>• Priorités : merchandising, Type 3, saisie obligatoire Outlet_Size</a:t>
            </a:r>
            <a:endParaRPr lang="en-US" sz="1900" dirty="0">
              <a:latin typeface="Abadi" panose="020B0604020104020204" pitchFamily="34" charset="0"/>
            </a:endParaRP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03C02770-9C65-B893-8C04-6351176B19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69669" y="7732503"/>
            <a:ext cx="1991003" cy="41915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4280" y="564594"/>
            <a:ext cx="4645581" cy="5806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550"/>
              </a:lnSpc>
              <a:buNone/>
            </a:pPr>
            <a:r>
              <a:rPr lang="en-US" sz="3650" b="1" dirty="0">
                <a:solidFill>
                  <a:srgbClr val="FFFFFF"/>
                </a:solidFill>
                <a:latin typeface="Abadi" panose="020B0604020104020204" pitchFamily="34" charset="0"/>
                <a:ea typeface="Montserrat Bold" pitchFamily="34" charset="-122"/>
                <a:cs typeface="Montserrat Bold" pitchFamily="34" charset="-120"/>
              </a:rPr>
              <a:t>Résultats Clés</a:t>
            </a:r>
            <a:endParaRPr lang="en-US" sz="3650" dirty="0">
              <a:latin typeface="Abadi" panose="020B0604020104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904280" y="1483757"/>
            <a:ext cx="12821841" cy="2802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Abadi" panose="020B0604020104020204" pitchFamily="34" charset="0"/>
                <a:ea typeface="Source Sans 3" pitchFamily="34" charset="-122"/>
                <a:cs typeface="Source Sans 3" pitchFamily="34" charset="-120"/>
              </a:rPr>
              <a:t>Chiffres essentiels de l’analyse exploratoire.</a:t>
            </a:r>
            <a:endParaRPr lang="en-US" sz="1600" dirty="0">
              <a:latin typeface="Abadi" panose="020B0604020104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904280" y="2056567"/>
            <a:ext cx="6305074" cy="674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300"/>
              </a:lnSpc>
              <a:buNone/>
            </a:pPr>
            <a:r>
              <a:rPr lang="en-US" sz="5300" b="1" dirty="0">
                <a:solidFill>
                  <a:srgbClr val="E2E6E9"/>
                </a:solidFill>
                <a:latin typeface="Abadi" panose="020B0604020104020204" pitchFamily="34" charset="0"/>
                <a:ea typeface="Montserrat Bold" pitchFamily="34" charset="-122"/>
                <a:cs typeface="Montserrat Bold" pitchFamily="34" charset="-120"/>
              </a:rPr>
              <a:t>8523</a:t>
            </a:r>
            <a:endParaRPr lang="en-US" sz="5300" dirty="0">
              <a:latin typeface="Abadi" panose="020B0604020104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2635687" y="2960132"/>
            <a:ext cx="2842260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E2E6E9"/>
                </a:solidFill>
                <a:latin typeface="Abadi" panose="020B0604020104020204" pitchFamily="34" charset="0"/>
                <a:ea typeface="Montserrat Bold" pitchFamily="34" charset="-122"/>
                <a:cs typeface="Montserrat Bold" pitchFamily="34" charset="-120"/>
              </a:rPr>
              <a:t>Transactions Analysées</a:t>
            </a:r>
            <a:endParaRPr lang="en-US" sz="1800" dirty="0">
              <a:latin typeface="Abadi" panose="020B0604020104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904280" y="3351967"/>
            <a:ext cx="6305074" cy="2802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Abadi" panose="020B0604020104020204" pitchFamily="34" charset="0"/>
                <a:ea typeface="Source Sans 3" pitchFamily="34" charset="-122"/>
                <a:cs typeface="Source Sans 3" pitchFamily="34" charset="-120"/>
              </a:rPr>
              <a:t>Base de données étudiée.</a:t>
            </a:r>
            <a:endParaRPr lang="en-US" sz="1600" dirty="0">
              <a:latin typeface="Abadi" panose="020B0604020104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7420928" y="2056567"/>
            <a:ext cx="6305193" cy="674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300"/>
              </a:lnSpc>
              <a:buNone/>
            </a:pPr>
            <a:r>
              <a:rPr lang="en-US" sz="5300" b="1" dirty="0">
                <a:solidFill>
                  <a:srgbClr val="E2E6E9"/>
                </a:solidFill>
                <a:latin typeface="Abadi" panose="020B0604020104020204" pitchFamily="34" charset="0"/>
                <a:ea typeface="Montserrat Bold" pitchFamily="34" charset="-122"/>
                <a:cs typeface="Montserrat Bold" pitchFamily="34" charset="-120"/>
              </a:rPr>
              <a:t>35%</a:t>
            </a:r>
            <a:endParaRPr lang="en-US" sz="5300" dirty="0">
              <a:latin typeface="Abadi" panose="020B0604020104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8075176" y="2960132"/>
            <a:ext cx="4996577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E2E6E9"/>
                </a:solidFill>
                <a:latin typeface="Abadi" panose="020B0604020104020204" pitchFamily="34" charset="0"/>
                <a:ea typeface="Montserrat Bold" pitchFamily="34" charset="-122"/>
                <a:cs typeface="Montserrat Bold" pitchFamily="34" charset="-120"/>
              </a:rPr>
              <a:t>Surperformance des Supermarket Type 3</a:t>
            </a:r>
            <a:endParaRPr lang="en-US" sz="1800" dirty="0">
              <a:latin typeface="Abadi" panose="020B0604020104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7420928" y="3351967"/>
            <a:ext cx="6305193" cy="2802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Abadi" panose="020B0604020104020204" pitchFamily="34" charset="0"/>
                <a:ea typeface="Source Sans 3" pitchFamily="34" charset="-122"/>
                <a:cs typeface="Source Sans 3" pitchFamily="34" charset="-120"/>
              </a:rPr>
              <a:t>Format le plus performant.</a:t>
            </a:r>
            <a:endParaRPr lang="en-US" sz="1600" dirty="0">
              <a:latin typeface="Abadi" panose="020B0604020104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904280" y="4072890"/>
            <a:ext cx="6305074" cy="674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300"/>
              </a:lnSpc>
              <a:buNone/>
            </a:pPr>
            <a:r>
              <a:rPr lang="en-US" sz="5300" b="1" dirty="0">
                <a:solidFill>
                  <a:srgbClr val="E2E6E9"/>
                </a:solidFill>
                <a:latin typeface="Abadi" panose="020B0604020104020204" pitchFamily="34" charset="0"/>
                <a:ea typeface="Montserrat Bold" pitchFamily="34" charset="-122"/>
                <a:cs typeface="Montserrat Bold" pitchFamily="34" charset="-120"/>
              </a:rPr>
              <a:t>45%</a:t>
            </a:r>
            <a:endParaRPr lang="en-US" sz="5300" dirty="0">
              <a:latin typeface="Abadi" panose="020B0604020104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2209086" y="4976455"/>
            <a:ext cx="3695343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E2E6E9"/>
                </a:solidFill>
                <a:latin typeface="Abadi" panose="020B0604020104020204" pitchFamily="34" charset="0"/>
                <a:ea typeface="Montserrat Bold" pitchFamily="34" charset="-122"/>
                <a:cs typeface="Montserrat Bold" pitchFamily="34" charset="-120"/>
              </a:rPr>
              <a:t>Revenus par Articles Premium</a:t>
            </a:r>
            <a:endParaRPr lang="en-US" sz="1800" dirty="0">
              <a:latin typeface="Abadi" panose="020B0604020104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904280" y="5368290"/>
            <a:ext cx="6305074" cy="2802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Abadi" panose="020B0604020104020204" pitchFamily="34" charset="0"/>
                <a:ea typeface="Source Sans 3" pitchFamily="34" charset="-122"/>
                <a:cs typeface="Source Sans 3" pitchFamily="34" charset="-120"/>
              </a:rPr>
              <a:t>Poids majeur dans le chiffre d’affaires.</a:t>
            </a:r>
            <a:endParaRPr lang="en-US" sz="1600" dirty="0">
              <a:latin typeface="Abadi" panose="020B0604020104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420928" y="4072890"/>
            <a:ext cx="6305193" cy="674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300"/>
              </a:lnSpc>
              <a:buNone/>
            </a:pPr>
            <a:r>
              <a:rPr lang="en-US" sz="5300" b="1" dirty="0">
                <a:solidFill>
                  <a:srgbClr val="E2E6E9"/>
                </a:solidFill>
                <a:latin typeface="Abadi" panose="020B0604020104020204" pitchFamily="34" charset="0"/>
                <a:ea typeface="Montserrat Bold" pitchFamily="34" charset="-122"/>
                <a:cs typeface="Montserrat Bold" pitchFamily="34" charset="-120"/>
              </a:rPr>
              <a:t>6%</a:t>
            </a:r>
            <a:endParaRPr lang="en-US" sz="5300" dirty="0">
              <a:latin typeface="Abadi" panose="020B0604020104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8857774" y="4976455"/>
            <a:ext cx="3431500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E2E6E9"/>
                </a:solidFill>
                <a:latin typeface="Abadi" panose="020B0604020104020204" pitchFamily="34" charset="0"/>
                <a:ea typeface="Montserrat Bold" pitchFamily="34" charset="-122"/>
                <a:cs typeface="Montserrat Bold" pitchFamily="34" charset="-120"/>
              </a:rPr>
              <a:t>Visibilité Moyenne en Rayon</a:t>
            </a:r>
            <a:endParaRPr lang="en-US" sz="1800" dirty="0">
              <a:latin typeface="Abadi" panose="020B060402010402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420928" y="5368290"/>
            <a:ext cx="6305193" cy="2802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Abadi" panose="020B0604020104020204" pitchFamily="34" charset="0"/>
                <a:ea typeface="Source Sans 3" pitchFamily="34" charset="-122"/>
                <a:cs typeface="Source Sans 3" pitchFamily="34" charset="-120"/>
              </a:rPr>
              <a:t>Niveau faible, à améliorer.</a:t>
            </a:r>
            <a:endParaRPr lang="en-US" sz="1600" dirty="0">
              <a:latin typeface="Abadi" panose="020B0604020104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904280" y="6089213"/>
            <a:ext cx="6305074" cy="674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300"/>
              </a:lnSpc>
              <a:buNone/>
            </a:pPr>
            <a:r>
              <a:rPr lang="en-US" sz="5300" b="1" dirty="0">
                <a:solidFill>
                  <a:srgbClr val="E2E6E9"/>
                </a:solidFill>
                <a:latin typeface="Abadi" panose="020B0604020104020204" pitchFamily="34" charset="0"/>
                <a:ea typeface="Montserrat Bold" pitchFamily="34" charset="-122"/>
                <a:cs typeface="Montserrat Bold" pitchFamily="34" charset="-120"/>
              </a:rPr>
              <a:t>1463</a:t>
            </a:r>
            <a:endParaRPr lang="en-US" sz="5300" dirty="0">
              <a:latin typeface="Abadi" panose="020B060402010402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2302193" y="6992779"/>
            <a:ext cx="3509129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E2E6E9"/>
                </a:solidFill>
                <a:latin typeface="Abadi" panose="020B0604020104020204" pitchFamily="34" charset="0"/>
                <a:ea typeface="Montserrat Bold" pitchFamily="34" charset="-122"/>
                <a:cs typeface="Montserrat Bold" pitchFamily="34" charset="-120"/>
              </a:rPr>
              <a:t>Valeurs Manquantes Traitées</a:t>
            </a:r>
            <a:endParaRPr lang="en-US" sz="1800" dirty="0">
              <a:latin typeface="Abadi" panose="020B060402010402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904280" y="7384613"/>
            <a:ext cx="6305074" cy="2802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Abadi" panose="020B0604020104020204" pitchFamily="34" charset="0"/>
                <a:ea typeface="Source Sans 3" pitchFamily="34" charset="-122"/>
                <a:cs typeface="Source Sans 3" pitchFamily="34" charset="-120"/>
              </a:rPr>
              <a:t>Données nettoyées pour l’analyse.</a:t>
            </a:r>
            <a:endParaRPr lang="en-US" sz="1600" dirty="0">
              <a:latin typeface="Abadi" panose="020B0604020104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7420928" y="6089213"/>
            <a:ext cx="6305193" cy="674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300"/>
              </a:lnSpc>
              <a:buNone/>
            </a:pPr>
            <a:r>
              <a:rPr lang="en-US" sz="5300" b="1" dirty="0">
                <a:solidFill>
                  <a:srgbClr val="E2E6E9"/>
                </a:solidFill>
                <a:latin typeface="Abadi" panose="020B0604020104020204" pitchFamily="34" charset="0"/>
                <a:ea typeface="Montserrat Bold" pitchFamily="34" charset="-122"/>
                <a:cs typeface="Montserrat Bold" pitchFamily="34" charset="-120"/>
              </a:rPr>
              <a:t>3</a:t>
            </a:r>
            <a:endParaRPr lang="en-US" sz="5300" dirty="0">
              <a:latin typeface="Abadi" panose="020B0604020104020204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8748832" y="6992779"/>
            <a:ext cx="3649385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E2E6E9"/>
                </a:solidFill>
                <a:latin typeface="Abadi" panose="020B0604020104020204" pitchFamily="34" charset="0"/>
                <a:ea typeface="Montserrat Bold" pitchFamily="34" charset="-122"/>
                <a:cs typeface="Montserrat Bold" pitchFamily="34" charset="-120"/>
              </a:rPr>
              <a:t>Hypothèses Métier Identifiées</a:t>
            </a:r>
            <a:endParaRPr lang="en-US" sz="1800" dirty="0">
              <a:latin typeface="Abadi" panose="020B060402010402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7420928" y="7384613"/>
            <a:ext cx="6305193" cy="2802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Abadi" panose="020B0604020104020204" pitchFamily="34" charset="0"/>
                <a:ea typeface="Source Sans 3" pitchFamily="34" charset="-122"/>
                <a:cs typeface="Source Sans 3" pitchFamily="34" charset="-120"/>
              </a:rPr>
              <a:t>Pistes prioritaires pour la suite.</a:t>
            </a:r>
            <a:endParaRPr lang="en-US" sz="1600" dirty="0">
              <a:latin typeface="Abadi" panose="020B0604020104020204" pitchFamily="34" charset="0"/>
            </a:endParaRPr>
          </a:p>
        </p:txBody>
      </p:sp>
      <p:pic>
        <p:nvPicPr>
          <p:cNvPr id="23" name="Image 22">
            <a:extLst>
              <a:ext uri="{FF2B5EF4-FFF2-40B4-BE49-F238E27FC236}">
                <a16:creationId xmlns:a16="http://schemas.microsoft.com/office/drawing/2014/main" id="{8E7B1239-B474-CE02-BEFB-34EE04B8B4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60242" y="7766446"/>
            <a:ext cx="1991003" cy="41915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2355" y="584954"/>
            <a:ext cx="9030176" cy="602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b="1" dirty="0">
                <a:solidFill>
                  <a:srgbClr val="FFFFFF"/>
                </a:solidFill>
                <a:latin typeface="Abadi" panose="020B0604020104020204" pitchFamily="34" charset="0"/>
                <a:ea typeface="Montserrat Bold" pitchFamily="34" charset="-122"/>
                <a:cs typeface="Montserrat Bold" pitchFamily="34" charset="-120"/>
              </a:rPr>
              <a:t>Travaux Réalisés - Analyse Concrète</a:t>
            </a:r>
            <a:endParaRPr lang="en-US" sz="3750" dirty="0">
              <a:latin typeface="Abadi" panose="020B0604020104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42355" y="1552099"/>
            <a:ext cx="13145691" cy="2958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650" dirty="0">
                <a:solidFill>
                  <a:srgbClr val="E2E6E9"/>
                </a:solidFill>
                <a:latin typeface="Abadi" panose="020B0604020104020204" pitchFamily="34" charset="0"/>
                <a:ea typeface="Source Sans 3" pitchFamily="34" charset="-122"/>
                <a:cs typeface="Source Sans 3" pitchFamily="34" charset="-120"/>
              </a:rPr>
              <a:t>Étapes clés et principaux résultats de l’analyse exploratoire.</a:t>
            </a:r>
            <a:endParaRPr lang="en-US" sz="1650" dirty="0">
              <a:latin typeface="Abadi" panose="020B0604020104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42355" y="2052995"/>
            <a:ext cx="6481643" cy="2547699"/>
          </a:xfrm>
          <a:prstGeom prst="roundRect">
            <a:avLst>
              <a:gd name="adj" fmla="val 1249"/>
            </a:avLst>
          </a:prstGeom>
          <a:solidFill>
            <a:srgbClr val="111213"/>
          </a:solidFill>
          <a:ln w="22860">
            <a:solidFill>
              <a:srgbClr val="494A4B"/>
            </a:solidFill>
            <a:prstDash val="solid"/>
          </a:ln>
        </p:spPr>
        <p:txBody>
          <a:bodyPr/>
          <a:lstStyle/>
          <a:p>
            <a:endParaRPr lang="fr-FR">
              <a:latin typeface="Abadi" panose="020B060402010402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765215" y="2075855"/>
            <a:ext cx="6435923" cy="636270"/>
          </a:xfrm>
          <a:prstGeom prst="roundRect">
            <a:avLst>
              <a:gd name="adj" fmla="val 689"/>
            </a:avLst>
          </a:prstGeom>
          <a:solidFill>
            <a:srgbClr val="303132"/>
          </a:solidFill>
          <a:ln/>
        </p:spPr>
        <p:txBody>
          <a:bodyPr/>
          <a:lstStyle/>
          <a:p>
            <a:endParaRPr lang="fr-FR">
              <a:latin typeface="Abadi" panose="020B0604020104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3824049" y="2195155"/>
            <a:ext cx="318135" cy="3976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2500" b="1" dirty="0">
                <a:solidFill>
                  <a:srgbClr val="E2E6E9"/>
                </a:solidFill>
                <a:latin typeface="Abadi" panose="020B0604020104020204" pitchFamily="34" charset="0"/>
                <a:ea typeface="Montserrat Bold" pitchFamily="34" charset="-122"/>
                <a:cs typeface="Montserrat Bold" pitchFamily="34" charset="-120"/>
              </a:rPr>
              <a:t>1</a:t>
            </a:r>
            <a:endParaRPr lang="en-US" sz="2500" dirty="0">
              <a:latin typeface="Abadi" panose="020B0604020104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977265" y="2894409"/>
            <a:ext cx="3019068" cy="301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E2E6E9"/>
                </a:solidFill>
                <a:latin typeface="Abadi" panose="020B0604020104020204" pitchFamily="34" charset="0"/>
                <a:ea typeface="Montserrat Bold" pitchFamily="34" charset="-122"/>
                <a:cs typeface="Montserrat Bold" pitchFamily="34" charset="-120"/>
              </a:rPr>
              <a:t>Nettoyage des Données</a:t>
            </a:r>
            <a:endParaRPr lang="en-US" sz="1850" dirty="0">
              <a:latin typeface="Abadi" panose="020B0604020104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977265" y="3305056"/>
            <a:ext cx="6011823" cy="1060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650" dirty="0">
                <a:solidFill>
                  <a:srgbClr val="E2E6E9"/>
                </a:solidFill>
                <a:latin typeface="Abadi" panose="020B0604020104020204" pitchFamily="34" charset="0"/>
                <a:ea typeface="Source Sans 3" pitchFamily="34" charset="-122"/>
                <a:cs typeface="Source Sans 3" pitchFamily="34" charset="-120"/>
              </a:rPr>
              <a:t>1463 valeurs manquantes traitées.</a:t>
            </a:r>
            <a:endParaRPr lang="en-US" sz="1650" dirty="0">
              <a:latin typeface="Abadi" panose="020B0604020104020204" pitchFamily="34" charset="0"/>
            </a:endParaRPr>
          </a:p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650" dirty="0">
                <a:solidFill>
                  <a:srgbClr val="E2E6E9"/>
                </a:solidFill>
                <a:highlight>
                  <a:srgbClr val="1E1F20"/>
                </a:highlight>
                <a:latin typeface="Abadi" panose="020B0604020104020204" pitchFamily="34" charset="0"/>
                <a:ea typeface="Consolas" pitchFamily="34" charset="-122"/>
                <a:cs typeface="Consolas" pitchFamily="34" charset="-120"/>
              </a:rPr>
              <a:t>Item_Fat_Content</a:t>
            </a:r>
            <a:r>
              <a:rPr lang="en-US" sz="1650" dirty="0">
                <a:solidFill>
                  <a:srgbClr val="E2E6E9"/>
                </a:solidFill>
                <a:latin typeface="Abadi" panose="020B0604020104020204" pitchFamily="34" charset="0"/>
                <a:ea typeface="Source Sans 3" pitchFamily="34" charset="-122"/>
                <a:cs typeface="Source Sans 3" pitchFamily="34" charset="-120"/>
              </a:rPr>
              <a:t> standardisé.</a:t>
            </a:r>
            <a:endParaRPr lang="en-US" sz="1650" dirty="0">
              <a:latin typeface="Abadi" panose="020B0604020104020204" pitchFamily="34" charset="0"/>
            </a:endParaRPr>
          </a:p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650" dirty="0">
                <a:solidFill>
                  <a:srgbClr val="E2E6E9"/>
                </a:solidFill>
                <a:highlight>
                  <a:srgbClr val="1E1F20"/>
                </a:highlight>
                <a:latin typeface="Abadi" panose="020B0604020104020204" pitchFamily="34" charset="0"/>
                <a:ea typeface="Consolas" pitchFamily="34" charset="-122"/>
                <a:cs typeface="Consolas" pitchFamily="34" charset="-120"/>
              </a:rPr>
              <a:t>Outlet_Size</a:t>
            </a:r>
            <a:r>
              <a:rPr lang="en-US" sz="1650" dirty="0">
                <a:solidFill>
                  <a:srgbClr val="E2E6E9"/>
                </a:solidFill>
                <a:latin typeface="Abadi" panose="020B0604020104020204" pitchFamily="34" charset="0"/>
                <a:ea typeface="Source Sans 3" pitchFamily="34" charset="-122"/>
                <a:cs typeface="Source Sans 3" pitchFamily="34" charset="-120"/>
              </a:rPr>
              <a:t> complété avec "Inconnu".</a:t>
            </a:r>
            <a:endParaRPr lang="en-US" sz="1650" dirty="0">
              <a:latin typeface="Abadi" panose="020B060402010402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7406283" y="2052995"/>
            <a:ext cx="6481762" cy="2547699"/>
          </a:xfrm>
          <a:prstGeom prst="roundRect">
            <a:avLst>
              <a:gd name="adj" fmla="val 1249"/>
            </a:avLst>
          </a:prstGeom>
          <a:solidFill>
            <a:srgbClr val="111213"/>
          </a:solidFill>
          <a:ln w="22860">
            <a:solidFill>
              <a:srgbClr val="494A4B"/>
            </a:solidFill>
            <a:prstDash val="solid"/>
          </a:ln>
        </p:spPr>
        <p:txBody>
          <a:bodyPr/>
          <a:lstStyle/>
          <a:p>
            <a:endParaRPr lang="fr-FR">
              <a:latin typeface="Abadi" panose="020B0604020104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7429143" y="2075855"/>
            <a:ext cx="6436043" cy="636270"/>
          </a:xfrm>
          <a:prstGeom prst="roundRect">
            <a:avLst>
              <a:gd name="adj" fmla="val 689"/>
            </a:avLst>
          </a:prstGeom>
          <a:solidFill>
            <a:srgbClr val="303132"/>
          </a:solidFill>
          <a:ln/>
        </p:spPr>
        <p:txBody>
          <a:bodyPr/>
          <a:lstStyle/>
          <a:p>
            <a:endParaRPr lang="fr-FR">
              <a:latin typeface="Abadi" panose="020B0604020104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0488097" y="2195155"/>
            <a:ext cx="318135" cy="3976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2500" b="1" dirty="0">
                <a:solidFill>
                  <a:srgbClr val="E2E6E9"/>
                </a:solidFill>
                <a:latin typeface="Abadi" panose="020B0604020104020204" pitchFamily="34" charset="0"/>
                <a:ea typeface="Montserrat Bold" pitchFamily="34" charset="-122"/>
                <a:cs typeface="Montserrat Bold" pitchFamily="34" charset="-120"/>
              </a:rPr>
              <a:t>2</a:t>
            </a:r>
            <a:endParaRPr lang="en-US" sz="2500" dirty="0">
              <a:latin typeface="Abadi" panose="020B0604020104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641193" y="2894409"/>
            <a:ext cx="2688193" cy="301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E2E6E9"/>
                </a:solidFill>
                <a:latin typeface="Abadi" panose="020B0604020104020204" pitchFamily="34" charset="0"/>
                <a:ea typeface="Montserrat Bold" pitchFamily="34" charset="-122"/>
                <a:cs typeface="Montserrat Bold" pitchFamily="34" charset="-120"/>
              </a:rPr>
              <a:t>Analyses Statistiques</a:t>
            </a:r>
            <a:endParaRPr lang="en-US" sz="1850" dirty="0">
              <a:latin typeface="Abadi" panose="020B0604020104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641193" y="3305056"/>
            <a:ext cx="6011942" cy="1015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650" dirty="0">
                <a:solidFill>
                  <a:srgbClr val="E2E6E9"/>
                </a:solidFill>
                <a:latin typeface="Abadi" panose="020B0604020104020204" pitchFamily="34" charset="0"/>
                <a:ea typeface="Source Sans 3" pitchFamily="34" charset="-122"/>
                <a:cs typeface="Source Sans 3" pitchFamily="34" charset="-120"/>
              </a:rPr>
              <a:t>Statistiques descriptives calculées.</a:t>
            </a:r>
            <a:endParaRPr lang="en-US" sz="1650" dirty="0">
              <a:latin typeface="Abadi" panose="020B0604020104020204" pitchFamily="34" charset="0"/>
            </a:endParaRPr>
          </a:p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650" dirty="0">
                <a:solidFill>
                  <a:srgbClr val="E2E6E9"/>
                </a:solidFill>
                <a:latin typeface="Abadi" panose="020B0604020104020204" pitchFamily="34" charset="0"/>
                <a:ea typeface="Source Sans 3" pitchFamily="34" charset="-122"/>
                <a:cs typeface="Source Sans 3" pitchFamily="34" charset="-120"/>
              </a:rPr>
              <a:t>Ventes par type de magasin analysées.</a:t>
            </a:r>
            <a:endParaRPr lang="en-US" sz="1650" dirty="0">
              <a:latin typeface="Abadi" panose="020B0604020104020204" pitchFamily="34" charset="0"/>
            </a:endParaRPr>
          </a:p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650" dirty="0">
                <a:solidFill>
                  <a:srgbClr val="E2E6E9"/>
                </a:solidFill>
                <a:latin typeface="Abadi" panose="020B0604020104020204" pitchFamily="34" charset="0"/>
                <a:ea typeface="Source Sans 3" pitchFamily="34" charset="-122"/>
                <a:cs typeface="Source Sans 3" pitchFamily="34" charset="-120"/>
              </a:rPr>
              <a:t>Corrélation prix-vente étudiée.</a:t>
            </a:r>
            <a:endParaRPr lang="en-US" sz="1650" dirty="0">
              <a:latin typeface="Abadi" panose="020B0604020104020204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742355" y="4782979"/>
            <a:ext cx="6481643" cy="2861548"/>
          </a:xfrm>
          <a:prstGeom prst="roundRect">
            <a:avLst>
              <a:gd name="adj" fmla="val 1112"/>
            </a:avLst>
          </a:prstGeom>
          <a:solidFill>
            <a:srgbClr val="111213"/>
          </a:solidFill>
          <a:ln w="22860">
            <a:solidFill>
              <a:srgbClr val="494A4B"/>
            </a:solidFill>
            <a:prstDash val="solid"/>
          </a:ln>
        </p:spPr>
        <p:txBody>
          <a:bodyPr/>
          <a:lstStyle/>
          <a:p>
            <a:endParaRPr lang="fr-FR">
              <a:latin typeface="Abadi" panose="020B0604020104020204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765215" y="4805839"/>
            <a:ext cx="6435923" cy="636270"/>
          </a:xfrm>
          <a:prstGeom prst="roundRect">
            <a:avLst>
              <a:gd name="adj" fmla="val 689"/>
            </a:avLst>
          </a:prstGeom>
          <a:solidFill>
            <a:srgbClr val="303132"/>
          </a:solidFill>
          <a:ln/>
        </p:spPr>
        <p:txBody>
          <a:bodyPr/>
          <a:lstStyle/>
          <a:p>
            <a:endParaRPr lang="fr-FR">
              <a:latin typeface="Abadi" panose="020B0604020104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824049" y="4925139"/>
            <a:ext cx="318135" cy="3976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2500" b="1" dirty="0">
                <a:solidFill>
                  <a:srgbClr val="E2E6E9"/>
                </a:solidFill>
                <a:latin typeface="Abadi" panose="020B0604020104020204" pitchFamily="34" charset="0"/>
                <a:ea typeface="Montserrat Bold" pitchFamily="34" charset="-122"/>
                <a:cs typeface="Montserrat Bold" pitchFamily="34" charset="-120"/>
              </a:rPr>
              <a:t>3</a:t>
            </a:r>
            <a:endParaRPr lang="en-US" sz="2500" dirty="0">
              <a:latin typeface="Abadi" panose="020B060402010402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977265" y="5624393"/>
            <a:ext cx="2410420" cy="301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E2E6E9"/>
                </a:solidFill>
                <a:latin typeface="Abadi" panose="020B0604020104020204" pitchFamily="34" charset="0"/>
                <a:ea typeface="Montserrat Bold" pitchFamily="34" charset="-122"/>
                <a:cs typeface="Montserrat Bold" pitchFamily="34" charset="-120"/>
              </a:rPr>
              <a:t>Visualisations Clés</a:t>
            </a:r>
            <a:endParaRPr lang="en-US" sz="1850" dirty="0">
              <a:latin typeface="Abadi" panose="020B060402010402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977265" y="6035040"/>
            <a:ext cx="6011823" cy="1374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650" dirty="0">
                <a:solidFill>
                  <a:srgbClr val="E2E6E9"/>
                </a:solidFill>
                <a:latin typeface="Abadi" panose="020B0604020104020204" pitchFamily="34" charset="0"/>
                <a:ea typeface="Source Sans 3" pitchFamily="34" charset="-122"/>
                <a:cs typeface="Source Sans 3" pitchFamily="34" charset="-120"/>
              </a:rPr>
              <a:t>Histogramme des ventes.</a:t>
            </a:r>
            <a:endParaRPr lang="en-US" sz="1650" dirty="0">
              <a:latin typeface="Abadi" panose="020B0604020104020204" pitchFamily="34" charset="0"/>
            </a:endParaRPr>
          </a:p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650" dirty="0">
                <a:solidFill>
                  <a:srgbClr val="E2E6E9"/>
                </a:solidFill>
                <a:latin typeface="Abadi" panose="020B0604020104020204" pitchFamily="34" charset="0"/>
                <a:ea typeface="Source Sans 3" pitchFamily="34" charset="-122"/>
                <a:cs typeface="Source Sans 3" pitchFamily="34" charset="-120"/>
              </a:rPr>
              <a:t>Comparaison par type et taille de magasin.</a:t>
            </a:r>
            <a:endParaRPr lang="en-US" sz="1650" dirty="0">
              <a:latin typeface="Abadi" panose="020B0604020104020204" pitchFamily="34" charset="0"/>
            </a:endParaRPr>
          </a:p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650" dirty="0">
                <a:solidFill>
                  <a:srgbClr val="E2E6E9"/>
                </a:solidFill>
                <a:latin typeface="Abadi" panose="020B0604020104020204" pitchFamily="34" charset="0"/>
                <a:ea typeface="Source Sans 3" pitchFamily="34" charset="-122"/>
                <a:cs typeface="Source Sans 3" pitchFamily="34" charset="-120"/>
              </a:rPr>
              <a:t>Relation prix vs ventes.</a:t>
            </a:r>
            <a:endParaRPr lang="en-US" sz="1650" dirty="0">
              <a:latin typeface="Abadi" panose="020B0604020104020204" pitchFamily="34" charset="0"/>
            </a:endParaRPr>
          </a:p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650" dirty="0">
                <a:solidFill>
                  <a:srgbClr val="E2E6E9"/>
                </a:solidFill>
                <a:latin typeface="Abadi" panose="020B0604020104020204" pitchFamily="34" charset="0"/>
                <a:ea typeface="Source Sans 3" pitchFamily="34" charset="-122"/>
                <a:cs typeface="Source Sans 3" pitchFamily="34" charset="-120"/>
              </a:rPr>
              <a:t>Boxplot des valeurs extrêmes.</a:t>
            </a:r>
            <a:endParaRPr lang="en-US" sz="1650" dirty="0">
              <a:latin typeface="Abadi" panose="020B0604020104020204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7406283" y="4782979"/>
            <a:ext cx="6481762" cy="2861548"/>
          </a:xfrm>
          <a:prstGeom prst="roundRect">
            <a:avLst>
              <a:gd name="adj" fmla="val 1112"/>
            </a:avLst>
          </a:prstGeom>
          <a:solidFill>
            <a:srgbClr val="111213"/>
          </a:solidFill>
          <a:ln w="22860">
            <a:solidFill>
              <a:srgbClr val="494A4B"/>
            </a:solidFill>
            <a:prstDash val="solid"/>
          </a:ln>
        </p:spPr>
        <p:txBody>
          <a:bodyPr/>
          <a:lstStyle/>
          <a:p>
            <a:endParaRPr lang="fr-FR">
              <a:latin typeface="Abadi" panose="020B0604020104020204" pitchFamily="34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7429143" y="4805839"/>
            <a:ext cx="6436043" cy="636270"/>
          </a:xfrm>
          <a:prstGeom prst="roundRect">
            <a:avLst>
              <a:gd name="adj" fmla="val 689"/>
            </a:avLst>
          </a:prstGeom>
          <a:solidFill>
            <a:srgbClr val="303132"/>
          </a:solidFill>
          <a:ln/>
        </p:spPr>
        <p:txBody>
          <a:bodyPr/>
          <a:lstStyle/>
          <a:p>
            <a:endParaRPr lang="fr-FR">
              <a:latin typeface="Abadi" panose="020B060402010402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10488097" y="4925139"/>
            <a:ext cx="318135" cy="3976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2500" b="1" dirty="0">
                <a:solidFill>
                  <a:srgbClr val="E2E6E9"/>
                </a:solidFill>
                <a:latin typeface="Abadi" panose="020B0604020104020204" pitchFamily="34" charset="0"/>
                <a:ea typeface="Montserrat Bold" pitchFamily="34" charset="-122"/>
                <a:cs typeface="Montserrat Bold" pitchFamily="34" charset="-120"/>
              </a:rPr>
              <a:t>4</a:t>
            </a:r>
            <a:endParaRPr lang="en-US" sz="2500" dirty="0">
              <a:latin typeface="Abadi" panose="020B0604020104020204" pitchFamily="34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7641193" y="5624393"/>
            <a:ext cx="2922746" cy="301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E2E6E9"/>
                </a:solidFill>
                <a:latin typeface="Abadi" panose="020B0604020104020204" pitchFamily="34" charset="0"/>
                <a:ea typeface="Montserrat Bold" pitchFamily="34" charset="-122"/>
                <a:cs typeface="Montserrat Bold" pitchFamily="34" charset="-120"/>
              </a:rPr>
              <a:t>Insights Métier Extraits</a:t>
            </a:r>
            <a:endParaRPr lang="en-US" sz="1850" dirty="0">
              <a:latin typeface="Abadi" panose="020B0604020104020204" pitchFamily="34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7641193" y="6035040"/>
            <a:ext cx="6011942" cy="1015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650" dirty="0">
                <a:solidFill>
                  <a:srgbClr val="E2E6E9"/>
                </a:solidFill>
                <a:latin typeface="Abadi" panose="020B0604020104020204" pitchFamily="34" charset="0"/>
                <a:ea typeface="Source Sans 3" pitchFamily="34" charset="-122"/>
                <a:cs typeface="Source Sans 3" pitchFamily="34" charset="-120"/>
              </a:rPr>
              <a:t>3 hypothèses stratégiques identifiées.</a:t>
            </a:r>
            <a:endParaRPr lang="en-US" sz="1650" dirty="0">
              <a:latin typeface="Abadi" panose="020B0604020104020204" pitchFamily="34" charset="0"/>
            </a:endParaRPr>
          </a:p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650" dirty="0">
                <a:solidFill>
                  <a:srgbClr val="E2E6E9"/>
                </a:solidFill>
                <a:latin typeface="Abadi" panose="020B0604020104020204" pitchFamily="34" charset="0"/>
                <a:ea typeface="Source Sans 3" pitchFamily="34" charset="-122"/>
                <a:cs typeface="Source Sans 3" pitchFamily="34" charset="-120"/>
              </a:rPr>
              <a:t>Performances segmentées par magasin.</a:t>
            </a:r>
            <a:endParaRPr lang="en-US" sz="1650" dirty="0">
              <a:latin typeface="Abadi" panose="020B0604020104020204" pitchFamily="34" charset="0"/>
            </a:endParaRPr>
          </a:p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650" dirty="0">
                <a:solidFill>
                  <a:srgbClr val="E2E6E9"/>
                </a:solidFill>
                <a:latin typeface="Abadi" panose="020B0604020104020204" pitchFamily="34" charset="0"/>
                <a:ea typeface="Source Sans 3" pitchFamily="34" charset="-122"/>
                <a:cs typeface="Source Sans 3" pitchFamily="34" charset="-120"/>
              </a:rPr>
              <a:t>Produits performants vs moins performants.</a:t>
            </a:r>
            <a:endParaRPr lang="en-US" sz="1650" dirty="0">
              <a:latin typeface="Abadi" panose="020B0604020104020204" pitchFamily="34" charset="0"/>
            </a:endParaRPr>
          </a:p>
        </p:txBody>
      </p:sp>
      <p:pic>
        <p:nvPicPr>
          <p:cNvPr id="25" name="Image 24">
            <a:extLst>
              <a:ext uri="{FF2B5EF4-FFF2-40B4-BE49-F238E27FC236}">
                <a16:creationId xmlns:a16="http://schemas.microsoft.com/office/drawing/2014/main" id="{AAB61EF8-3B70-BDD7-969B-A8160AF888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39397" y="7774965"/>
            <a:ext cx="1991003" cy="41915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1982033"/>
            <a:ext cx="8816340" cy="701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badi" panose="020B0604020104020204" pitchFamily="34" charset="0"/>
                <a:ea typeface="Montserrat Bold" pitchFamily="34" charset="-122"/>
                <a:cs typeface="Montserrat Bold" pitchFamily="34" charset="-120"/>
              </a:rPr>
              <a:t>Hypothèses Métier Identifiées</a:t>
            </a:r>
            <a:endParaRPr lang="en-US" sz="4400" dirty="0">
              <a:latin typeface="Abadi" panose="020B0604020104020204" pitchFamily="34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798" y="3176945"/>
            <a:ext cx="4300895" cy="98726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10615" y="4411028"/>
            <a:ext cx="3100030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2E6E9"/>
                </a:solidFill>
                <a:latin typeface="Abadi" panose="020B0604020104020204" pitchFamily="34" charset="0"/>
                <a:ea typeface="Montserrat Bold" pitchFamily="34" charset="-122"/>
                <a:cs typeface="Montserrat Bold" pitchFamily="34" charset="-120"/>
              </a:rPr>
              <a:t>Prix Moteur de Vente</a:t>
            </a:r>
            <a:endParaRPr lang="en-US" sz="2200" dirty="0">
              <a:latin typeface="Abadi" panose="020B0604020104020204" pitchFamily="34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1110615" y="4909661"/>
            <a:ext cx="3807262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Abadi" panose="020B0604020104020204" pitchFamily="34" charset="0"/>
                <a:ea typeface="Source Sans 3" pitchFamily="34" charset="-122"/>
                <a:cs typeface="Source Sans 3" pitchFamily="34" charset="-120"/>
              </a:rPr>
              <a:t>Le prix (Item_MRP) est fortement corrélé aux ventes.</a:t>
            </a:r>
            <a:endParaRPr lang="en-US" sz="1900" dirty="0">
              <a:latin typeface="Abadi" panose="020B0604020104020204" pitchFamily="34" charset="0"/>
            </a:endParaRPr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4693" y="3176945"/>
            <a:ext cx="4300895" cy="98726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411510" y="4411028"/>
            <a:ext cx="3524012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2E6E9"/>
                </a:solidFill>
                <a:latin typeface="Abadi" panose="020B0604020104020204" pitchFamily="34" charset="0"/>
                <a:ea typeface="Montserrat Bold" pitchFamily="34" charset="-122"/>
                <a:cs typeface="Montserrat Bold" pitchFamily="34" charset="-120"/>
              </a:rPr>
              <a:t>Visibilité Sous-Optimale</a:t>
            </a:r>
            <a:endParaRPr lang="en-US" sz="2200" dirty="0">
              <a:latin typeface="Abadi" panose="020B0604020104020204" pitchFamily="34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5411510" y="4909661"/>
            <a:ext cx="3807262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Abadi" panose="020B0604020104020204" pitchFamily="34" charset="0"/>
                <a:ea typeface="Source Sans 3" pitchFamily="34" charset="-122"/>
                <a:cs typeface="Source Sans 3" pitchFamily="34" charset="-120"/>
              </a:rPr>
              <a:t>La visibilité moyenne (~6%) peut encore progresser.</a:t>
            </a:r>
            <a:endParaRPr lang="en-US" sz="1900" dirty="0">
              <a:latin typeface="Abadi" panose="020B0604020104020204" pitchFamily="34" charset="0"/>
            </a:endParaRPr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65588" y="3176945"/>
            <a:ext cx="4301014" cy="98726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712404" y="4411028"/>
            <a:ext cx="3807381" cy="701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2E6E9"/>
                </a:solidFill>
                <a:latin typeface="Abadi" panose="020B0604020104020204" pitchFamily="34" charset="0"/>
                <a:ea typeface="Montserrat Bold" pitchFamily="34" charset="-122"/>
                <a:cs typeface="Montserrat Bold" pitchFamily="34" charset="-120"/>
              </a:rPr>
              <a:t>Modèle Type 3 Performant</a:t>
            </a:r>
            <a:endParaRPr lang="en-US" sz="2200" dirty="0">
              <a:latin typeface="Abadi" panose="020B0604020104020204" pitchFamily="34" charset="0"/>
            </a:endParaRPr>
          </a:p>
        </p:txBody>
      </p:sp>
      <p:sp>
        <p:nvSpPr>
          <p:cNvPr id="11" name="Text 6"/>
          <p:cNvSpPr/>
          <p:nvPr/>
        </p:nvSpPr>
        <p:spPr>
          <a:xfrm>
            <a:off x="9712404" y="5260300"/>
            <a:ext cx="3807381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Abadi" panose="020B0604020104020204" pitchFamily="34" charset="0"/>
                <a:ea typeface="Source Sans 3" pitchFamily="34" charset="-122"/>
                <a:cs typeface="Source Sans 3" pitchFamily="34" charset="-120"/>
              </a:rPr>
              <a:t>Les Supermarket Type 3 surperforment les autres formats.</a:t>
            </a:r>
            <a:endParaRPr lang="en-US" sz="1900" dirty="0">
              <a:latin typeface="Abadi" panose="020B0604020104020204" pitchFamily="34" charset="0"/>
            </a:endParaRPr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B4A30C18-D0AF-0AB3-06D3-C180C644B65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524283" y="7732503"/>
            <a:ext cx="1991003" cy="41915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2500432"/>
            <a:ext cx="9474279" cy="701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badi" panose="020B0604020104020204" pitchFamily="34" charset="0"/>
                <a:ea typeface="Montserrat Bold" pitchFamily="34" charset="-122"/>
                <a:cs typeface="Montserrat Bold" pitchFamily="34" charset="-120"/>
              </a:rPr>
              <a:t>Recommandations Stratégiques</a:t>
            </a:r>
            <a:endParaRPr lang="en-US" sz="4400" dirty="0">
              <a:latin typeface="Abadi" panose="020B0604020104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863798" y="3818692"/>
            <a:ext cx="3898940" cy="701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Abadi" panose="020B0604020104020204" pitchFamily="34" charset="0"/>
                <a:ea typeface="Montserrat Bold" pitchFamily="34" charset="-122"/>
                <a:cs typeface="Montserrat Bold" pitchFamily="34" charset="-120"/>
              </a:rPr>
              <a:t>1. Optimiser le Merchandising</a:t>
            </a:r>
            <a:endParaRPr lang="en-US" sz="2200" dirty="0">
              <a:latin typeface="Abadi" panose="020B0604020104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863798" y="4766786"/>
            <a:ext cx="3898940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Abadi" panose="020B0604020104020204" pitchFamily="34" charset="0"/>
                <a:ea typeface="Source Sans 3" pitchFamily="34" charset="-122"/>
                <a:cs typeface="Source Sans 3" pitchFamily="34" charset="-120"/>
              </a:rPr>
              <a:t>Placez les produits premium (MRP &gt; 200) en zones visibles.</a:t>
            </a:r>
            <a:endParaRPr lang="en-US" sz="1900" dirty="0">
              <a:latin typeface="Abadi" panose="020B0604020104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5372576" y="3818692"/>
            <a:ext cx="3898940" cy="701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Abadi" panose="020B0604020104020204" pitchFamily="34" charset="0"/>
                <a:ea typeface="Montserrat Bold" pitchFamily="34" charset="-122"/>
                <a:cs typeface="Montserrat Bold" pitchFamily="34" charset="-120"/>
              </a:rPr>
              <a:t>2. Dupliquer le Modèle Type 3</a:t>
            </a:r>
            <a:endParaRPr lang="en-US" sz="2200" dirty="0">
              <a:latin typeface="Abadi" panose="020B0604020104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5372576" y="4766786"/>
            <a:ext cx="3898940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Abadi" panose="020B0604020104020204" pitchFamily="34" charset="0"/>
                <a:ea typeface="Source Sans 3" pitchFamily="34" charset="-122"/>
                <a:cs typeface="Source Sans 3" pitchFamily="34" charset="-120"/>
              </a:rPr>
              <a:t>Étendez les bonnes pratiques des Supermarket Type 3.</a:t>
            </a:r>
            <a:endParaRPr lang="en-US" sz="1900" dirty="0">
              <a:latin typeface="Abadi" panose="020B0604020104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9881354" y="3818692"/>
            <a:ext cx="2893457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Abadi" panose="020B0604020104020204" pitchFamily="34" charset="0"/>
                <a:ea typeface="Montserrat Bold" pitchFamily="34" charset="-122"/>
                <a:cs typeface="Montserrat Bold" pitchFamily="34" charset="-120"/>
              </a:rPr>
              <a:t>3. Saisie Obligatoire</a:t>
            </a:r>
            <a:endParaRPr lang="en-US" sz="2200" dirty="0">
              <a:latin typeface="Abadi" panose="020B0604020104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9881354" y="4416147"/>
            <a:ext cx="3898940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Abadi" panose="020B0604020104020204" pitchFamily="34" charset="0"/>
                <a:ea typeface="Source Sans 3" pitchFamily="34" charset="-122"/>
                <a:cs typeface="Source Sans 3" pitchFamily="34" charset="-120"/>
              </a:rPr>
              <a:t>Rendez Outlet_Size obligatoire et supprimez les valeurs “Inconnu”.</a:t>
            </a:r>
            <a:endParaRPr lang="en-US" sz="1900" dirty="0">
              <a:latin typeface="Abadi" panose="020B0604020104020204" pitchFamily="34" charset="0"/>
            </a:endParaRP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2F1D055F-288C-9136-8C49-F06C7C788A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39397" y="7810442"/>
            <a:ext cx="1991003" cy="41915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3317" y="724019"/>
            <a:ext cx="6216253" cy="668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Abadi" panose="020B0604020104020204" pitchFamily="34" charset="0"/>
                <a:ea typeface="Montserrat Bold" pitchFamily="34" charset="-122"/>
                <a:cs typeface="Montserrat Bold" pitchFamily="34" charset="-120"/>
              </a:rPr>
              <a:t>Plan d'Action 30 Jours</a:t>
            </a:r>
            <a:endParaRPr lang="en-US" sz="4200" dirty="0">
              <a:latin typeface="Abadi" panose="020B0604020104020204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823317" y="4073723"/>
            <a:ext cx="12983766" cy="30480"/>
          </a:xfrm>
          <a:prstGeom prst="roundRect">
            <a:avLst>
              <a:gd name="adj" fmla="val 115778"/>
            </a:avLst>
          </a:prstGeom>
          <a:solidFill>
            <a:srgbClr val="494A4B"/>
          </a:solidFill>
          <a:ln/>
        </p:spPr>
        <p:txBody>
          <a:bodyPr/>
          <a:lstStyle/>
          <a:p>
            <a:endParaRPr lang="fr-FR">
              <a:latin typeface="Abadi" panose="020B0604020104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3983831" y="3368100"/>
            <a:ext cx="30480" cy="705683"/>
          </a:xfrm>
          <a:prstGeom prst="roundRect">
            <a:avLst>
              <a:gd name="adj" fmla="val 115778"/>
            </a:avLst>
          </a:prstGeom>
          <a:solidFill>
            <a:srgbClr val="494A4B"/>
          </a:solidFill>
          <a:ln/>
        </p:spPr>
        <p:txBody>
          <a:bodyPr/>
          <a:lstStyle/>
          <a:p>
            <a:endParaRPr lang="fr-FR">
              <a:latin typeface="Abadi" panose="020B060402010402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734514" y="3809107"/>
            <a:ext cx="529233" cy="529233"/>
          </a:xfrm>
          <a:prstGeom prst="roundRect">
            <a:avLst>
              <a:gd name="adj" fmla="val 6668"/>
            </a:avLst>
          </a:prstGeom>
          <a:solidFill>
            <a:srgbClr val="303132"/>
          </a:solidFill>
          <a:ln/>
        </p:spPr>
        <p:txBody>
          <a:bodyPr/>
          <a:lstStyle/>
          <a:p>
            <a:endParaRPr lang="fr-FR">
              <a:latin typeface="Abadi" panose="020B0604020104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3838694" y="3873163"/>
            <a:ext cx="320754" cy="4010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2500" b="1" dirty="0">
                <a:solidFill>
                  <a:srgbClr val="E2E6E9"/>
                </a:solidFill>
                <a:latin typeface="Abadi" panose="020B0604020104020204" pitchFamily="34" charset="0"/>
                <a:ea typeface="Montserrat Bold" pitchFamily="34" charset="-122"/>
                <a:cs typeface="Montserrat Bold" pitchFamily="34" charset="-120"/>
              </a:rPr>
              <a:t>1</a:t>
            </a:r>
            <a:endParaRPr lang="en-US" sz="2500" dirty="0">
              <a:latin typeface="Abadi" panose="020B0604020104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2662476" y="1840706"/>
            <a:ext cx="2673310" cy="3340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E2E6E9"/>
                </a:solidFill>
                <a:latin typeface="Abadi" panose="020B0604020104020204" pitchFamily="34" charset="0"/>
                <a:ea typeface="Montserrat Bold" pitchFamily="34" charset="-122"/>
                <a:cs typeface="Montserrat Bold" pitchFamily="34" charset="-120"/>
              </a:rPr>
              <a:t>J1-J10</a:t>
            </a:r>
            <a:endParaRPr lang="en-US" sz="2100" dirty="0">
              <a:latin typeface="Abadi" panose="020B0604020104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058466" y="2309217"/>
            <a:ext cx="5881449" cy="3445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1850" b="1" dirty="0">
                <a:solidFill>
                  <a:srgbClr val="E2E6E9"/>
                </a:solidFill>
                <a:latin typeface="Abadi" panose="020B0604020104020204" pitchFamily="34" charset="0"/>
                <a:ea typeface="Source Sans 3" pitchFamily="34" charset="-122"/>
                <a:cs typeface="Source Sans 3" pitchFamily="34" charset="-120"/>
              </a:rPr>
              <a:t>Audit Physique</a:t>
            </a:r>
            <a:endParaRPr lang="en-US" sz="1850" dirty="0">
              <a:latin typeface="Abadi" panose="020B0604020104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1058466" y="2788206"/>
            <a:ext cx="5881449" cy="3445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1850" dirty="0">
                <a:solidFill>
                  <a:srgbClr val="E2E6E9"/>
                </a:solidFill>
                <a:latin typeface="Abadi" panose="020B0604020104020204" pitchFamily="34" charset="0"/>
                <a:ea typeface="Source Sans 3" pitchFamily="34" charset="-122"/>
                <a:cs typeface="Source Sans 3" pitchFamily="34" charset="-120"/>
              </a:rPr>
              <a:t>Collecte des données terrain</a:t>
            </a:r>
            <a:endParaRPr lang="en-US" sz="1850" dirty="0">
              <a:latin typeface="Abadi" panose="020B0604020104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7299841" y="4073664"/>
            <a:ext cx="30480" cy="705683"/>
          </a:xfrm>
          <a:prstGeom prst="roundRect">
            <a:avLst>
              <a:gd name="adj" fmla="val 115778"/>
            </a:avLst>
          </a:prstGeom>
          <a:solidFill>
            <a:srgbClr val="494A4B"/>
          </a:solidFill>
          <a:ln/>
        </p:spPr>
        <p:txBody>
          <a:bodyPr/>
          <a:lstStyle/>
          <a:p>
            <a:endParaRPr lang="fr-FR">
              <a:latin typeface="Abadi" panose="020B06040201040202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7050524" y="3809107"/>
            <a:ext cx="529233" cy="529233"/>
          </a:xfrm>
          <a:prstGeom prst="roundRect">
            <a:avLst>
              <a:gd name="adj" fmla="val 6668"/>
            </a:avLst>
          </a:prstGeom>
          <a:solidFill>
            <a:srgbClr val="303132"/>
          </a:solidFill>
          <a:ln/>
        </p:spPr>
        <p:txBody>
          <a:bodyPr/>
          <a:lstStyle/>
          <a:p>
            <a:endParaRPr lang="fr-FR">
              <a:latin typeface="Abadi" panose="020B0604020104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154704" y="3873163"/>
            <a:ext cx="320754" cy="4010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2500" b="1" dirty="0">
                <a:solidFill>
                  <a:srgbClr val="E2E6E9"/>
                </a:solidFill>
                <a:latin typeface="Abadi" panose="020B0604020104020204" pitchFamily="34" charset="0"/>
                <a:ea typeface="Montserrat Bold" pitchFamily="34" charset="-122"/>
                <a:cs typeface="Montserrat Bold" pitchFamily="34" charset="-120"/>
              </a:rPr>
              <a:t>2</a:t>
            </a:r>
            <a:endParaRPr lang="en-US" sz="2500" dirty="0">
              <a:latin typeface="Abadi" panose="020B0604020104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978485" y="5014674"/>
            <a:ext cx="2673310" cy="3340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E2E6E9"/>
                </a:solidFill>
                <a:latin typeface="Abadi" panose="020B0604020104020204" pitchFamily="34" charset="0"/>
                <a:ea typeface="Montserrat Bold" pitchFamily="34" charset="-122"/>
                <a:cs typeface="Montserrat Bold" pitchFamily="34" charset="-120"/>
              </a:rPr>
              <a:t>J11-J20</a:t>
            </a:r>
            <a:endParaRPr lang="en-US" sz="2100" dirty="0">
              <a:latin typeface="Abadi" panose="020B0604020104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374475" y="5483185"/>
            <a:ext cx="5881449" cy="3445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1850" b="1" dirty="0">
                <a:solidFill>
                  <a:srgbClr val="E2E6E9"/>
                </a:solidFill>
                <a:latin typeface="Abadi" panose="020B0604020104020204" pitchFamily="34" charset="0"/>
                <a:ea typeface="Source Sans 3" pitchFamily="34" charset="-122"/>
                <a:cs typeface="Source Sans 3" pitchFamily="34" charset="-120"/>
              </a:rPr>
              <a:t>Reorganisation</a:t>
            </a:r>
            <a:endParaRPr lang="en-US" sz="1850" dirty="0">
              <a:latin typeface="Abadi" panose="020B060402010402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374475" y="5962174"/>
            <a:ext cx="5881449" cy="3445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1850" dirty="0">
                <a:solidFill>
                  <a:srgbClr val="E2E6E9"/>
                </a:solidFill>
                <a:latin typeface="Abadi" panose="020B0604020104020204" pitchFamily="34" charset="0"/>
                <a:ea typeface="Source Sans 3" pitchFamily="34" charset="-122"/>
                <a:cs typeface="Source Sans 3" pitchFamily="34" charset="-120"/>
              </a:rPr>
              <a:t>Réaménagement des rayons</a:t>
            </a:r>
            <a:endParaRPr lang="en-US" sz="1850" dirty="0">
              <a:latin typeface="Abadi" panose="020B0604020104020204" pitchFamily="34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10615851" y="3368100"/>
            <a:ext cx="30480" cy="705683"/>
          </a:xfrm>
          <a:prstGeom prst="roundRect">
            <a:avLst>
              <a:gd name="adj" fmla="val 115778"/>
            </a:avLst>
          </a:prstGeom>
          <a:solidFill>
            <a:srgbClr val="494A4B"/>
          </a:solidFill>
          <a:ln/>
        </p:spPr>
        <p:txBody>
          <a:bodyPr/>
          <a:lstStyle/>
          <a:p>
            <a:endParaRPr lang="fr-FR">
              <a:latin typeface="Abadi" panose="020B0604020104020204" pitchFamily="3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10366534" y="3809107"/>
            <a:ext cx="529233" cy="529233"/>
          </a:xfrm>
          <a:prstGeom prst="roundRect">
            <a:avLst>
              <a:gd name="adj" fmla="val 6668"/>
            </a:avLst>
          </a:prstGeom>
          <a:solidFill>
            <a:srgbClr val="303132"/>
          </a:solidFill>
          <a:ln/>
        </p:spPr>
        <p:txBody>
          <a:bodyPr/>
          <a:lstStyle/>
          <a:p>
            <a:endParaRPr lang="fr-FR">
              <a:latin typeface="Abadi" panose="020B060402010402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0470713" y="3873163"/>
            <a:ext cx="320754" cy="4010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2500" b="1" dirty="0">
                <a:solidFill>
                  <a:srgbClr val="E2E6E9"/>
                </a:solidFill>
                <a:latin typeface="Abadi" panose="020B0604020104020204" pitchFamily="34" charset="0"/>
                <a:ea typeface="Montserrat Bold" pitchFamily="34" charset="-122"/>
                <a:cs typeface="Montserrat Bold" pitchFamily="34" charset="-120"/>
              </a:rPr>
              <a:t>3</a:t>
            </a:r>
            <a:endParaRPr lang="en-US" sz="2500" dirty="0">
              <a:latin typeface="Abadi" panose="020B0604020104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9294495" y="1840706"/>
            <a:ext cx="2673310" cy="3340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E2E6E9"/>
                </a:solidFill>
                <a:latin typeface="Abadi" panose="020B0604020104020204" pitchFamily="34" charset="0"/>
                <a:ea typeface="Montserrat Bold" pitchFamily="34" charset="-122"/>
                <a:cs typeface="Montserrat Bold" pitchFamily="34" charset="-120"/>
              </a:rPr>
              <a:t>J21-J30</a:t>
            </a:r>
            <a:endParaRPr lang="en-US" sz="2100" dirty="0">
              <a:latin typeface="Abadi" panose="020B0604020104020204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7690485" y="2309217"/>
            <a:ext cx="5881449" cy="3445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1850" b="1" dirty="0">
                <a:solidFill>
                  <a:srgbClr val="E2E6E9"/>
                </a:solidFill>
                <a:latin typeface="Abadi" panose="020B0604020104020204" pitchFamily="34" charset="0"/>
                <a:ea typeface="Source Sans 3" pitchFamily="34" charset="-122"/>
                <a:cs typeface="Source Sans 3" pitchFamily="34" charset="-120"/>
              </a:rPr>
              <a:t>Promotion</a:t>
            </a:r>
            <a:endParaRPr lang="en-US" sz="1850" dirty="0">
              <a:latin typeface="Abadi" panose="020B060402010402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7690485" y="2788206"/>
            <a:ext cx="5881449" cy="3445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1850" dirty="0">
                <a:solidFill>
                  <a:srgbClr val="E2E6E9"/>
                </a:solidFill>
                <a:latin typeface="Abadi" panose="020B0604020104020204" pitchFamily="34" charset="0"/>
                <a:ea typeface="Source Sans 3" pitchFamily="34" charset="-122"/>
                <a:cs typeface="Source Sans 3" pitchFamily="34" charset="-120"/>
              </a:rPr>
              <a:t>Campagne ciblée sur les produits clés</a:t>
            </a:r>
            <a:endParaRPr lang="en-US" sz="1850" dirty="0">
              <a:latin typeface="Abadi" panose="020B0604020104020204" pitchFamily="34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823317" y="6558915"/>
            <a:ext cx="12983766" cy="946666"/>
          </a:xfrm>
          <a:prstGeom prst="roundRect">
            <a:avLst>
              <a:gd name="adj" fmla="val 3728"/>
            </a:avLst>
          </a:prstGeom>
          <a:solidFill>
            <a:srgbClr val="4B3F02"/>
          </a:solidFill>
          <a:ln/>
        </p:spPr>
        <p:txBody>
          <a:bodyPr/>
          <a:lstStyle/>
          <a:p>
            <a:endParaRPr lang="fr-FR">
              <a:latin typeface="Abadi" panose="020B0604020104020204" pitchFamily="34" charset="0"/>
            </a:endParaRPr>
          </a:p>
        </p:txBody>
      </p:sp>
      <p:pic>
        <p:nvPicPr>
          <p:cNvPr id="2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8466" y="6890742"/>
            <a:ext cx="293965" cy="235148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587579" y="6841808"/>
            <a:ext cx="11984355" cy="3445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850" b="1" dirty="0">
                <a:solidFill>
                  <a:srgbClr val="FFFFFF"/>
                </a:solidFill>
                <a:latin typeface="Abadi" panose="020B0604020104020204" pitchFamily="34" charset="0"/>
                <a:ea typeface="Source Sans 3" pitchFamily="34" charset="-122"/>
                <a:cs typeface="Source Sans 3" pitchFamily="34" charset="-120"/>
              </a:rPr>
              <a:t>Limites :</a:t>
            </a:r>
            <a:r>
              <a:rPr lang="en-US" sz="1850" dirty="0">
                <a:solidFill>
                  <a:srgbClr val="FFFFFF"/>
                </a:solidFill>
                <a:latin typeface="Abadi" panose="020B0604020104020204" pitchFamily="34" charset="0"/>
                <a:ea typeface="Source Sans 3" pitchFamily="34" charset="-122"/>
                <a:cs typeface="Source Sans 3" pitchFamily="34" charset="-120"/>
              </a:rPr>
              <a:t> Peu de données temporelles, biais possible sur "Inconnu", sources externes non intégrées</a:t>
            </a:r>
            <a:endParaRPr lang="en-US" sz="1850" dirty="0">
              <a:latin typeface="Abadi" panose="020B0604020104020204" pitchFamily="34" charset="0"/>
            </a:endParaRPr>
          </a:p>
        </p:txBody>
      </p:sp>
      <p:pic>
        <p:nvPicPr>
          <p:cNvPr id="26" name="Image 25">
            <a:extLst>
              <a:ext uri="{FF2B5EF4-FFF2-40B4-BE49-F238E27FC236}">
                <a16:creationId xmlns:a16="http://schemas.microsoft.com/office/drawing/2014/main" id="{0029D8A0-3BF1-66F5-C5F3-37AE9169F1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76432" y="7757755"/>
            <a:ext cx="1991003" cy="41915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656</Words>
  <Application>Microsoft Office PowerPoint</Application>
  <PresentationFormat>Personnalisé</PresentationFormat>
  <Paragraphs>131</Paragraphs>
  <Slides>11</Slides>
  <Notes>11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4" baseType="lpstr">
      <vt:lpstr>Abadi</vt:lpstr>
      <vt:lpstr>Arial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BANGOURA Ahmed Rachid</cp:lastModifiedBy>
  <cp:revision>2</cp:revision>
  <dcterms:created xsi:type="dcterms:W3CDTF">2026-04-30T09:13:27Z</dcterms:created>
  <dcterms:modified xsi:type="dcterms:W3CDTF">2026-05-01T15:28:14Z</dcterms:modified>
</cp:coreProperties>
</file>